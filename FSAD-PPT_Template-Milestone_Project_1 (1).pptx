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70" r:id="rId13"/>
    <p:sldId id="265" r:id="rId14"/>
  </p:sldIdLst>
  <p:sldSz cx="18288000" cy="10287000"/>
  <p:notesSz cx="6858000" cy="9144000"/>
  <p:embeddedFontLst>
    <p:embeddedFont>
      <p:font typeface="Bookman Old Style" panose="02050604050505020204" pitchFamily="18" charset="0"/>
      <p:regular r:id="rId15"/>
      <p:bold r:id="rId16"/>
      <p:italic r:id="rId17"/>
      <p:boldItalic r:id="rId18"/>
    </p:embeddedFont>
    <p:embeddedFont>
      <p:font typeface="Cambria" panose="02040503050406030204" pitchFamily="18" charset="0"/>
      <p:regular r:id="rId19"/>
      <p:bold r:id="rId20"/>
      <p:italic r:id="rId21"/>
      <p:boldItalic r:id="rId22"/>
    </p:embeddedFont>
    <p:embeddedFont>
      <p:font typeface="Gotham" panose="020B0604020202020204" charset="0"/>
      <p:regular r:id="rId23"/>
    </p:embeddedFont>
    <p:embeddedFont>
      <p:font typeface="Gotham Bold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CEDCC-9808-4ED4-8633-87FFDDAC7FDF}" v="183" dt="2026-03-03T14:13:12.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4622" autoAdjust="0"/>
  </p:normalViewPr>
  <p:slideViewPr>
    <p:cSldViewPr>
      <p:cViewPr varScale="1">
        <p:scale>
          <a:sx n="69" d="100"/>
          <a:sy n="69" d="100"/>
        </p:scale>
        <p:origin x="4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25-03-2026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Relational Inventory Control and Stock Tracking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Kunchapu</a:t>
            </a:r>
            <a:r>
              <a:rPr lang="en-US" sz="3000" dirty="0">
                <a:latin typeface="Cambria" panose="02040503050406030204" pitchFamily="18" charset="0"/>
                <a:ea typeface="Cambria" panose="02040503050406030204" pitchFamily="18" charset="0"/>
              </a:rPr>
              <a:t> Vandana– VTU24401–23UECS0788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Dr.S.Hemamalini</a:t>
            </a:r>
            <a:r>
              <a:rPr lang="en-US" sz="3000" dirty="0">
                <a:latin typeface="Cambria" panose="02040503050406030204" pitchFamily="18" charset="0"/>
                <a:ea typeface="Cambria" panose="02040503050406030204" pitchFamily="18" charset="0"/>
              </a:rPr>
              <a:t> (TTS4062)</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438400" y="2944666"/>
            <a:ext cx="15082325" cy="9879628"/>
          </a:xfrm>
          <a:prstGeom prst="rect">
            <a:avLst/>
          </a:prstGeom>
          <a:noFill/>
        </p:spPr>
        <p:txBody>
          <a:bodyPr wrap="square" lIns="91440" tIns="45720" rIns="91440" bIns="45720" rtlCol="0" anchor="t">
            <a:spAutoFit/>
          </a:bodyPr>
          <a:lstStyle/>
          <a:p>
            <a:r>
              <a:rPr lang="en-US" sz="3200" dirty="0">
                <a:ea typeface="+mn-lt"/>
                <a:cs typeface="+mn-lt"/>
              </a:rPr>
              <a:t>      </a:t>
            </a:r>
            <a:r>
              <a:rPr lang="en-US" sz="2800" dirty="0"/>
              <a:t>A </a:t>
            </a:r>
            <a:r>
              <a:rPr lang="en-US" sz="2800" b="1" dirty="0"/>
              <a:t>Relational Inventory Control and Stock Tracking System</a:t>
            </a:r>
            <a:r>
              <a:rPr lang="en-US" sz="2800" dirty="0"/>
              <a:t> is a database-driven solution designed to efficiently manage and monitor inventory levels, stock movements, and product information within an organization. It uses a </a:t>
            </a:r>
            <a:r>
              <a:rPr lang="en-US" sz="2800" b="1" dirty="0"/>
              <a:t>relational database structure</a:t>
            </a:r>
            <a:r>
              <a:rPr lang="en-US" sz="2800" dirty="0"/>
              <a:t>, where data is organized into interconnected tables, ensuring accuracy, consistency, and easy retrieval.</a:t>
            </a:r>
          </a:p>
          <a:p>
            <a:r>
              <a:rPr lang="en-US" sz="2800" dirty="0"/>
              <a:t>      This system helps businesses track stock in real time, reduce manual errors, and optimize inventory levels. By maintaining relationships between entities such as products, suppliers, orders, and transactions, it enables better decision-making and streamlined operations.</a:t>
            </a:r>
          </a:p>
          <a:p>
            <a:r>
              <a:rPr lang="en-US" sz="2800" dirty="0"/>
              <a:t>      It is widely used in retail, manufacturing, warehouses, and distribution sectors to improve efficiency, reduce costs, and ensure that the right products are available at the right time.</a:t>
            </a:r>
          </a:p>
          <a:p>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99553" y="2488054"/>
            <a:ext cx="15082325" cy="12157174"/>
          </a:xfrm>
          <a:prstGeom prst="rect">
            <a:avLst/>
          </a:prstGeom>
          <a:noFill/>
        </p:spPr>
        <p:txBody>
          <a:bodyPr wrap="square" lIns="91440" tIns="45720" rIns="91440" bIns="45720" rtlCol="0" anchor="t">
            <a:spAutoFit/>
          </a:bodyPr>
          <a:lstStyle/>
          <a:p>
            <a:r>
              <a:rPr lang="en-US" sz="2800" dirty="0"/>
              <a:t>Manual inventory management leads to errors and inefficiency. </a:t>
            </a:r>
          </a:p>
          <a:p>
            <a:endParaRPr lang="en-US" sz="2800" dirty="0"/>
          </a:p>
          <a:p>
            <a:r>
              <a:rPr lang="en-US" sz="2800" dirty="0"/>
              <a:t>Difficulty in tracking real-time stock levels .</a:t>
            </a:r>
          </a:p>
          <a:p>
            <a:endParaRPr lang="en-US" sz="2800" dirty="0"/>
          </a:p>
          <a:p>
            <a:r>
              <a:rPr lang="en-US" sz="2800" dirty="0"/>
              <a:t>Risk of overstocking and stock shortages .</a:t>
            </a:r>
          </a:p>
          <a:p>
            <a:endParaRPr lang="en-US" sz="2800" dirty="0"/>
          </a:p>
          <a:p>
            <a:r>
              <a:rPr lang="en-US" sz="2800" dirty="0"/>
              <a:t>Lack of centralized and organized data system . </a:t>
            </a:r>
          </a:p>
          <a:p>
            <a:endParaRPr lang="en-US" sz="2800" dirty="0"/>
          </a:p>
          <a:p>
            <a:r>
              <a:rPr lang="en-US" sz="2800" dirty="0"/>
              <a:t>Poor visibility of product, supplier, and transaction relationships.</a:t>
            </a:r>
          </a:p>
          <a:p>
            <a:endParaRPr lang="en-US" sz="2800" dirty="0"/>
          </a:p>
          <a:p>
            <a:r>
              <a:rPr lang="en-US" sz="2800" dirty="0"/>
              <a:t>Time-consuming report generation and decision-making.</a:t>
            </a:r>
          </a:p>
          <a:p>
            <a:endParaRPr lang="en-US" sz="2800" dirty="0"/>
          </a:p>
          <a:p>
            <a:r>
              <a:rPr lang="en-US" sz="2800" dirty="0"/>
              <a:t>Need for an accurate, reliable, and automated inventory system.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Oval 3">
            <a:extLst>
              <a:ext uri="{FF2B5EF4-FFF2-40B4-BE49-F238E27FC236}">
                <a16:creationId xmlns:a16="http://schemas.microsoft.com/office/drawing/2014/main" id="{9FED540C-C4AE-857E-CD5C-BC5C7DC07348}"/>
              </a:ext>
            </a:extLst>
          </p:cNvPr>
          <p:cNvSpPr/>
          <p:nvPr/>
        </p:nvSpPr>
        <p:spPr>
          <a:xfrm>
            <a:off x="2123893" y="3589760"/>
            <a:ext cx="97802" cy="7942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21FA6A3-0378-4ED6-C4EE-C8BAEB4DDD58}"/>
              </a:ext>
            </a:extLst>
          </p:cNvPr>
          <p:cNvSpPr/>
          <p:nvPr/>
        </p:nvSpPr>
        <p:spPr>
          <a:xfrm>
            <a:off x="2117068" y="4445819"/>
            <a:ext cx="97802" cy="7942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C8E5007-61B4-DEA8-F474-6490F25BF0FA}"/>
              </a:ext>
            </a:extLst>
          </p:cNvPr>
          <p:cNvSpPr/>
          <p:nvPr/>
        </p:nvSpPr>
        <p:spPr>
          <a:xfrm>
            <a:off x="2117068" y="5286539"/>
            <a:ext cx="97802" cy="7942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0C53E21-DE41-1C8B-AA82-D9821F7C5C23}"/>
              </a:ext>
            </a:extLst>
          </p:cNvPr>
          <p:cNvSpPr/>
          <p:nvPr/>
        </p:nvSpPr>
        <p:spPr>
          <a:xfrm>
            <a:off x="2117068" y="6143996"/>
            <a:ext cx="97802" cy="7942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EC42486-E303-11C4-A7CA-35D958C2923C}"/>
              </a:ext>
            </a:extLst>
          </p:cNvPr>
          <p:cNvSpPr/>
          <p:nvPr/>
        </p:nvSpPr>
        <p:spPr>
          <a:xfrm>
            <a:off x="2092572" y="6981399"/>
            <a:ext cx="97802" cy="7942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561A372-DAC5-45AB-35A7-4E2592500976}"/>
              </a:ext>
            </a:extLst>
          </p:cNvPr>
          <p:cNvSpPr/>
          <p:nvPr/>
        </p:nvSpPr>
        <p:spPr>
          <a:xfrm>
            <a:off x="2117068" y="7856115"/>
            <a:ext cx="97802" cy="7942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05E5413-CBFB-C518-AD1B-75C59847636A}"/>
              </a:ext>
            </a:extLst>
          </p:cNvPr>
          <p:cNvSpPr/>
          <p:nvPr/>
        </p:nvSpPr>
        <p:spPr>
          <a:xfrm>
            <a:off x="2123893" y="2727172"/>
            <a:ext cx="97802" cy="7942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3662541"/>
          </a:xfrm>
          <a:prstGeom prst="rect">
            <a:avLst/>
          </a:prstGeom>
          <a:noFill/>
        </p:spPr>
        <p:txBody>
          <a:bodyPr wrap="square" lIns="91440" tIns="45720" rIns="91440" bIns="45720" rtlCol="0" anchor="t">
            <a:spAutoFit/>
          </a:bodyPr>
          <a:lstStyle/>
          <a:p>
            <a:r>
              <a:rPr lang="en-US" sz="3600" dirty="0">
                <a:ea typeface="+mn-lt"/>
                <a:cs typeface="+mn-lt"/>
              </a:rPr>
              <a:t>  </a:t>
            </a:r>
            <a:endParaRPr lang="en-US" sz="3600" dirty="0">
              <a:ea typeface="Calibri"/>
              <a:cs typeface="Calibri"/>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0A660406-5097-AF65-4BD7-EE251FFE6679}"/>
              </a:ext>
            </a:extLst>
          </p:cNvPr>
          <p:cNvSpPr>
            <a:spLocks noChangeArrowheads="1"/>
          </p:cNvSpPr>
          <p:nvPr/>
        </p:nvSpPr>
        <p:spPr bwMode="auto">
          <a:xfrm>
            <a:off x="0" y="-323168"/>
            <a:ext cx="4114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479644E0-C6B5-DC62-8203-5F2D9BCF7779}"/>
              </a:ext>
            </a:extLst>
          </p:cNvPr>
          <p:cNvSpPr>
            <a:spLocks noChangeArrowheads="1"/>
          </p:cNvSpPr>
          <p:nvPr/>
        </p:nvSpPr>
        <p:spPr bwMode="auto">
          <a:xfrm>
            <a:off x="152400" y="549099"/>
            <a:ext cx="624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Rectangle 4">
            <a:extLst>
              <a:ext uri="{FF2B5EF4-FFF2-40B4-BE49-F238E27FC236}">
                <a16:creationId xmlns:a16="http://schemas.microsoft.com/office/drawing/2014/main" id="{5DCE4B5B-B2D6-2431-636E-6949B0D91409}"/>
              </a:ext>
            </a:extLst>
          </p:cNvPr>
          <p:cNvSpPr>
            <a:spLocks noChangeArrowheads="1"/>
          </p:cNvSpPr>
          <p:nvPr/>
        </p:nvSpPr>
        <p:spPr bwMode="auto">
          <a:xfrm>
            <a:off x="2162160" y="1768558"/>
            <a:ext cx="10857652"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develop an efficient inventory control and stock tracking system.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maintain accurate and real-time stock records.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organize data using a relational database structure.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reduce manual errors and improve data consistency.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track product movement, suppliers, and transactions effectively.</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generate quick and reliable reports for decision-making.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To optimize inventory levels and reduce operational costs.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6526" y="1982349"/>
            <a:ext cx="15082325" cy="11941731"/>
          </a:xfrm>
          <a:prstGeom prst="rect">
            <a:avLst/>
          </a:prstGeom>
          <a:noFill/>
        </p:spPr>
        <p:txBody>
          <a:bodyPr wrap="square" lIns="91440" tIns="45720" rIns="91440" bIns="45720" rtlCol="0" anchor="t">
            <a:spAutoFit/>
          </a:bodyPr>
          <a:lstStyle/>
          <a:p>
            <a:pPr>
              <a:buFont typeface="Arial"/>
              <a:buChar char="•"/>
            </a:pPr>
            <a:r>
              <a:rPr lang="en-US" sz="2800" dirty="0">
                <a:ea typeface="+mn-lt"/>
                <a:cs typeface="+mn-lt"/>
              </a:rPr>
              <a:t>The proposed system is a relational inventory control and stock tracking system using a database to manage inventory efficiently.</a:t>
            </a:r>
          </a:p>
          <a:p>
            <a:endParaRPr lang="en-US" dirty="0"/>
          </a:p>
          <a:p>
            <a:pPr>
              <a:buFont typeface="Arial"/>
              <a:buChar char="•"/>
            </a:pPr>
            <a:r>
              <a:rPr lang="en-US" sz="2800" dirty="0">
                <a:ea typeface="+mn-lt"/>
                <a:cs typeface="+mn-lt"/>
              </a:rPr>
              <a:t>It tracks stock in real-time, recording every addition, sale, or movement of items automatically.</a:t>
            </a:r>
          </a:p>
          <a:p>
            <a:endParaRPr lang="en-US" dirty="0"/>
          </a:p>
          <a:p>
            <a:pPr>
              <a:buFont typeface="Arial"/>
              <a:buChar char="•"/>
            </a:pPr>
            <a:r>
              <a:rPr lang="en-US" sz="2800" dirty="0">
                <a:ea typeface="+mn-lt"/>
                <a:cs typeface="+mn-lt"/>
              </a:rPr>
              <a:t>The system generates alerts for low stock levels to prevent stockouts and overstocking.</a:t>
            </a:r>
          </a:p>
          <a:p>
            <a:endParaRPr lang="en-US" dirty="0"/>
          </a:p>
          <a:p>
            <a:pPr>
              <a:buFont typeface="Arial"/>
              <a:buChar char="•"/>
            </a:pPr>
            <a:r>
              <a:rPr lang="en-US" sz="2800" dirty="0">
                <a:ea typeface="+mn-lt"/>
                <a:cs typeface="+mn-lt"/>
              </a:rPr>
              <a:t>It maintains organized records of suppliers, purchases, and sales for accurate inventory management.</a:t>
            </a:r>
          </a:p>
          <a:p>
            <a:endParaRPr lang="en-US" dirty="0"/>
          </a:p>
          <a:p>
            <a:pPr>
              <a:buFont typeface="Arial"/>
              <a:buChar char="•"/>
            </a:pPr>
            <a:r>
              <a:rPr lang="en-US" sz="2800" dirty="0">
                <a:ea typeface="+mn-lt"/>
                <a:cs typeface="+mn-lt"/>
              </a:rPr>
              <a:t>The system produces reports on stock trends, turnover, and valuation to aid decision-making.</a:t>
            </a:r>
          </a:p>
          <a:p>
            <a:endParaRPr lang="en-US" dirty="0"/>
          </a:p>
          <a:p>
            <a:pPr>
              <a:buFont typeface="Arial"/>
              <a:buChar char="•"/>
            </a:pPr>
            <a:r>
              <a:rPr lang="en-US" sz="2800" dirty="0">
                <a:ea typeface="+mn-lt"/>
                <a:cs typeface="+mn-lt"/>
              </a:rPr>
              <a:t>It reduces human errors common in manual inventory tracking.</a:t>
            </a:r>
          </a:p>
          <a:p>
            <a:endParaRPr lang="en-US" dirty="0"/>
          </a:p>
          <a:p>
            <a:pPr>
              <a:buFont typeface="Arial"/>
              <a:buChar char="•"/>
            </a:pPr>
            <a:r>
              <a:rPr lang="en-US" sz="2800" dirty="0">
                <a:ea typeface="+mn-lt"/>
                <a:cs typeface="+mn-lt"/>
              </a:rPr>
              <a:t>The system is scalable and easy to update, handling large volumes of data efficiently.</a:t>
            </a:r>
          </a:p>
          <a:p>
            <a:endParaRPr lang="en-US" dirty="0"/>
          </a:p>
          <a:p>
            <a:pPr marL="457200" indent="-457200">
              <a:buFont typeface="Arial"/>
              <a:buChar char="•"/>
            </a:pPr>
            <a:r>
              <a:rPr lang="en-US" sz="2800" dirty="0">
                <a:ea typeface="+mn-lt"/>
                <a:cs typeface="+mn-lt"/>
              </a:rPr>
              <a:t>Overall, it provides improved accuracy, better resource management, and faster operations compared to traditional systems.</a:t>
            </a:r>
            <a:endParaRPr lang="en-US" dirty="0"/>
          </a:p>
          <a:p>
            <a:pPr marL="914400" lvl="1"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descr="A diagram of a system&#10;&#10;AI-generated content may be incorrect.">
            <a:extLst>
              <a:ext uri="{FF2B5EF4-FFF2-40B4-BE49-F238E27FC236}">
                <a16:creationId xmlns:a16="http://schemas.microsoft.com/office/drawing/2014/main" id="{D086355A-21D4-DABF-ABAB-D7954A76A069}"/>
              </a:ext>
            </a:extLst>
          </p:cNvPr>
          <p:cNvPicPr>
            <a:picLocks noChangeAspect="1"/>
          </p:cNvPicPr>
          <p:nvPr/>
        </p:nvPicPr>
        <p:blipFill>
          <a:blip r:embed="rId4"/>
          <a:stretch>
            <a:fillRect/>
          </a:stretch>
        </p:blipFill>
        <p:spPr>
          <a:xfrm>
            <a:off x="10110159" y="2272341"/>
            <a:ext cx="7599872" cy="6971582"/>
          </a:xfrm>
          <a:prstGeom prst="rect">
            <a:avLst/>
          </a:prstGeom>
        </p:spPr>
      </p:pic>
      <p:sp>
        <p:nvSpPr>
          <p:cNvPr id="3" name="TextBox 2">
            <a:extLst>
              <a:ext uri="{FF2B5EF4-FFF2-40B4-BE49-F238E27FC236}">
                <a16:creationId xmlns:a16="http://schemas.microsoft.com/office/drawing/2014/main" id="{CBCB84B2-EAA1-2DB0-36D1-50E479C75FC4}"/>
              </a:ext>
            </a:extLst>
          </p:cNvPr>
          <p:cNvSpPr txBox="1"/>
          <p:nvPr/>
        </p:nvSpPr>
        <p:spPr>
          <a:xfrm>
            <a:off x="2464334" y="2075316"/>
            <a:ext cx="7595557"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t>Input: Users enter data related to inventory, such as new stock, sales, purchases, or supplier details. Input can come from forms, barcode scanners, or manual entry. Processing: The system processes input data to update inventory, check stock levels, and calculate stock availability. It generates alerts, validates transactions, and performs necessary calculations automatically. Database: A relational database stores all inventory data in organized tables with defined relationships (e.g., items, suppliers, sales, purchases). Ensures data integrity, easy retrieval, and real-time updates. Output: Provides real-time reports on stock levels, low-stock alerts, purchase summaries, and sales trends. Helps managers make informed decisions and plan procurement efficiently.</a:t>
            </a:r>
            <a:endParaRPr lang="en-US" sz="2800" dirty="0">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166668" y="1918659"/>
            <a:ext cx="10337797" cy="10618291"/>
          </a:xfrm>
          <a:prstGeom prst="rect">
            <a:avLst/>
          </a:prstGeom>
          <a:noFill/>
        </p:spPr>
        <p:txBody>
          <a:bodyPr wrap="square" lIns="91440" tIns="45720" rIns="91440" bIns="45720" rtlCol="0" anchor="t">
            <a:spAutoFit/>
          </a:bodyPr>
          <a:lstStyle/>
          <a:p>
            <a:r>
              <a:rPr lang="en-US" sz="4400" dirty="0">
                <a:ea typeface="+mn-lt"/>
                <a:cs typeface="+mn-lt"/>
              </a:rPr>
              <a:t>    </a:t>
            </a:r>
            <a:r>
              <a:rPr lang="en-US" sz="4000" dirty="0">
                <a:ea typeface="+mn-lt"/>
                <a:cs typeface="+mn-lt"/>
              </a:rPr>
              <a:t>[User/Input]</a:t>
            </a:r>
          </a:p>
          <a:p>
            <a:r>
              <a:rPr lang="en-US" sz="4000" dirty="0">
                <a:ea typeface="+mn-lt"/>
                <a:cs typeface="+mn-lt"/>
              </a:rPr>
              <a:t>            |</a:t>
            </a:r>
          </a:p>
          <a:p>
            <a:r>
              <a:rPr lang="en-US" sz="4000" dirty="0">
                <a:ea typeface="+mn-lt"/>
                <a:cs typeface="+mn-lt"/>
              </a:rPr>
              <a:t>            v</a:t>
            </a:r>
          </a:p>
          <a:p>
            <a:r>
              <a:rPr lang="en-US" sz="4000" dirty="0">
                <a:ea typeface="+mn-lt"/>
                <a:cs typeface="+mn-lt"/>
              </a:rPr>
              <a:t>    [Processing Unit]</a:t>
            </a:r>
          </a:p>
          <a:p>
            <a:r>
              <a:rPr lang="en-US" sz="4000" dirty="0">
                <a:ea typeface="+mn-lt"/>
                <a:cs typeface="+mn-lt"/>
              </a:rPr>
              <a:t>            |</a:t>
            </a:r>
          </a:p>
          <a:p>
            <a:r>
              <a:rPr lang="en-US" sz="4000" dirty="0">
                <a:ea typeface="+mn-lt"/>
                <a:cs typeface="+mn-lt"/>
              </a:rPr>
              <a:t>            v</a:t>
            </a:r>
          </a:p>
          <a:p>
            <a:r>
              <a:rPr lang="en-US" sz="4000" dirty="0">
                <a:ea typeface="+mn-lt"/>
                <a:cs typeface="+mn-lt"/>
              </a:rPr>
              <a:t>    [Relational Database]</a:t>
            </a:r>
          </a:p>
          <a:p>
            <a:r>
              <a:rPr lang="en-US" sz="4000" dirty="0">
                <a:ea typeface="+mn-lt"/>
                <a:cs typeface="+mn-lt"/>
              </a:rPr>
              <a:t>            |</a:t>
            </a:r>
          </a:p>
          <a:p>
            <a:r>
              <a:rPr lang="en-US" sz="4000" dirty="0">
                <a:ea typeface="+mn-lt"/>
                <a:cs typeface="+mn-lt"/>
              </a:rPr>
              <a:t>            v</a:t>
            </a:r>
          </a:p>
          <a:p>
            <a:r>
              <a:rPr lang="en-US" sz="4000" dirty="0">
                <a:ea typeface="+mn-lt"/>
                <a:cs typeface="+mn-lt"/>
              </a:rPr>
              <a:t>     [Output/Reports]</a:t>
            </a:r>
          </a:p>
          <a:p>
            <a:endParaRPr lang="en-US" sz="2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794004" cy="12588061"/>
          </a:xfrm>
          <a:prstGeom prst="rect">
            <a:avLst/>
          </a:prstGeom>
          <a:noFill/>
        </p:spPr>
        <p:txBody>
          <a:bodyPr wrap="square" lIns="91440" tIns="45720" rIns="91440" bIns="45720" rtlCol="0" anchor="t">
            <a:spAutoFit/>
          </a:bodyPr>
          <a:lstStyle/>
          <a:p>
            <a:pPr>
              <a:buFont typeface="Arial"/>
              <a:buChar char="•"/>
            </a:pPr>
            <a:r>
              <a:rPr lang="en-US" sz="2800" b="1" dirty="0">
                <a:ea typeface="+mn-lt"/>
                <a:cs typeface="+mn-lt"/>
              </a:rPr>
              <a:t>Frontend:</a:t>
            </a:r>
            <a:endParaRPr lang="en-US" sz="2800" b="1" dirty="0">
              <a:ea typeface="Calibri"/>
              <a:cs typeface="Calibri"/>
            </a:endParaRPr>
          </a:p>
          <a:p>
            <a:pPr>
              <a:buFont typeface="Arial"/>
              <a:buChar char="•"/>
            </a:pPr>
            <a:r>
              <a:rPr lang="en-US" sz="2800" dirty="0">
                <a:ea typeface="+mn-lt"/>
                <a:cs typeface="+mn-lt"/>
              </a:rPr>
              <a:t>HTML, CSS, JavaScript</a:t>
            </a:r>
            <a:endParaRPr lang="en-US" dirty="0">
              <a:ea typeface="Calibri"/>
              <a:cs typeface="Calibri"/>
            </a:endParaRPr>
          </a:p>
          <a:p>
            <a:pPr>
              <a:buFont typeface="Arial"/>
              <a:buChar char="•"/>
            </a:pPr>
            <a:r>
              <a:rPr lang="en-US" sz="2800" dirty="0">
                <a:ea typeface="+mn-lt"/>
                <a:cs typeface="+mn-lt"/>
              </a:rPr>
              <a:t>Bootstrap or Material UI (for responsive design)</a:t>
            </a:r>
            <a:endParaRPr lang="en-US" sz="2800" dirty="0">
              <a:ea typeface="Calibri"/>
              <a:cs typeface="Calibri"/>
            </a:endParaRPr>
          </a:p>
          <a:p>
            <a:pPr>
              <a:buFont typeface="Arial"/>
              <a:buChar char="•"/>
            </a:pPr>
            <a:r>
              <a:rPr lang="en-US" sz="2800" b="1" dirty="0">
                <a:ea typeface="+mn-lt"/>
                <a:cs typeface="+mn-lt"/>
              </a:rPr>
              <a:t>Backend</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PHP / Python (Django/Flask) / Node.js</a:t>
            </a:r>
            <a:endParaRPr lang="en-US" sz="2800" dirty="0">
              <a:ea typeface="Calibri"/>
              <a:cs typeface="Calibri"/>
            </a:endParaRPr>
          </a:p>
          <a:p>
            <a:pPr>
              <a:buFont typeface="Arial"/>
              <a:buChar char="•"/>
            </a:pPr>
            <a:r>
              <a:rPr lang="en-US" sz="2800" dirty="0">
                <a:ea typeface="+mn-lt"/>
                <a:cs typeface="+mn-lt"/>
              </a:rPr>
              <a:t>API integration for real-time updates (optional)</a:t>
            </a:r>
            <a:endParaRPr lang="en-US" sz="2800" dirty="0">
              <a:ea typeface="Calibri"/>
              <a:cs typeface="Calibri"/>
            </a:endParaRPr>
          </a:p>
          <a:p>
            <a:pPr>
              <a:buFont typeface="Arial"/>
              <a:buChar char="•"/>
            </a:pPr>
            <a:r>
              <a:rPr lang="en-US" sz="2800" b="1" dirty="0">
                <a:ea typeface="+mn-lt"/>
                <a:cs typeface="+mn-lt"/>
              </a:rPr>
              <a:t>Database</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MySQL / PostgreSQL (Relational Database)</a:t>
            </a:r>
            <a:endParaRPr lang="en-US" sz="2800" dirty="0">
              <a:ea typeface="Calibri"/>
              <a:cs typeface="Calibri"/>
            </a:endParaRPr>
          </a:p>
          <a:p>
            <a:pPr>
              <a:buFont typeface="Arial"/>
              <a:buChar char="•"/>
            </a:pPr>
            <a:r>
              <a:rPr lang="en-US" sz="2800" b="1" dirty="0">
                <a:ea typeface="+mn-lt"/>
                <a:cs typeface="+mn-lt"/>
              </a:rPr>
              <a:t>Tools</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Visual Studio Code / PyCharm / Sublime Text</a:t>
            </a:r>
            <a:endParaRPr lang="en-US" sz="2800" dirty="0">
              <a:ea typeface="Calibri"/>
              <a:cs typeface="Calibri"/>
            </a:endParaRPr>
          </a:p>
          <a:p>
            <a:pPr>
              <a:buFont typeface="Arial"/>
              <a:buChar char="•"/>
            </a:pPr>
            <a:r>
              <a:rPr lang="en-US" sz="2800" dirty="0">
                <a:ea typeface="+mn-lt"/>
                <a:cs typeface="+mn-lt"/>
              </a:rPr>
              <a:t>phpMyAdmin / </a:t>
            </a:r>
            <a:r>
              <a:rPr lang="en-US" sz="2800" dirty="0" err="1">
                <a:ea typeface="+mn-lt"/>
                <a:cs typeface="+mn-lt"/>
              </a:rPr>
              <a:t>pgAdmin</a:t>
            </a:r>
            <a:r>
              <a:rPr lang="en-US" sz="2800" dirty="0">
                <a:ea typeface="+mn-lt"/>
                <a:cs typeface="+mn-lt"/>
              </a:rPr>
              <a:t> (for database management)</a:t>
            </a:r>
            <a:endParaRPr lang="en-US" sz="2800" dirty="0">
              <a:ea typeface="Calibri"/>
              <a:cs typeface="Calibri"/>
            </a:endParaRPr>
          </a:p>
          <a:p>
            <a:pPr>
              <a:buFont typeface="Arial"/>
              <a:buChar char="•"/>
            </a:pPr>
            <a:r>
              <a:rPr lang="en-US" sz="2800" dirty="0">
                <a:ea typeface="+mn-lt"/>
                <a:cs typeface="+mn-lt"/>
              </a:rPr>
              <a:t>Git / GitHub (version control)</a:t>
            </a:r>
            <a:endParaRPr lang="en-US" sz="2800" dirty="0">
              <a:ea typeface="Calibri"/>
              <a:cs typeface="Calibri"/>
            </a:endParaRPr>
          </a:p>
          <a:p>
            <a:pPr>
              <a:buFont typeface="Arial"/>
              <a:buChar char="•"/>
            </a:pPr>
            <a:r>
              <a:rPr lang="en-US" sz="2800" b="1" dirty="0">
                <a:ea typeface="+mn-lt"/>
                <a:cs typeface="+mn-lt"/>
              </a:rPr>
              <a:t>Hardware/Software Requirements:</a:t>
            </a:r>
            <a:endParaRPr lang="en-US" sz="2800" b="1" dirty="0">
              <a:ea typeface="Calibri"/>
              <a:cs typeface="Calibri"/>
            </a:endParaRPr>
          </a:p>
          <a:p>
            <a:pPr>
              <a:buFont typeface="Arial"/>
              <a:buChar char="•"/>
            </a:pPr>
            <a:r>
              <a:rPr lang="en-US" sz="2800" b="1" dirty="0">
                <a:ea typeface="+mn-lt"/>
                <a:cs typeface="+mn-lt"/>
              </a:rPr>
              <a:t>Hardware</a:t>
            </a:r>
            <a:r>
              <a:rPr lang="en-US" sz="2800" dirty="0">
                <a:ea typeface="+mn-lt"/>
                <a:cs typeface="+mn-lt"/>
              </a:rPr>
              <a:t>: PC/Laptop with at least 4GB RAM, 500GB storage</a:t>
            </a:r>
            <a:endParaRPr lang="en-US" sz="2800" dirty="0">
              <a:ea typeface="Calibri"/>
              <a:cs typeface="Calibri"/>
            </a:endParaRPr>
          </a:p>
          <a:p>
            <a:pPr marL="457200" indent="-457200">
              <a:buFont typeface="Arial"/>
              <a:buChar char="•"/>
            </a:pPr>
            <a:r>
              <a:rPr lang="en-US" sz="2800" b="1" dirty="0">
                <a:ea typeface="+mn-lt"/>
                <a:cs typeface="+mn-lt"/>
              </a:rPr>
              <a:t>Software</a:t>
            </a:r>
            <a:r>
              <a:rPr lang="en-US" sz="2800" dirty="0">
                <a:ea typeface="+mn-lt"/>
                <a:cs typeface="+mn-lt"/>
              </a:rPr>
              <a:t>: Web browser, MySQL/PostgreSQL server, Python/PHP runtime environment, Internet connection for updates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10095071"/>
          </a:xfrm>
          <a:prstGeom prst="rect">
            <a:avLst/>
          </a:prstGeom>
          <a:noFill/>
        </p:spPr>
        <p:txBody>
          <a:bodyPr wrap="square" lIns="91440" tIns="45720" rIns="91440" bIns="45720" rtlCol="0" anchor="t">
            <a:spAutoFit/>
          </a:bodyPr>
          <a:lstStyle/>
          <a:p>
            <a:endParaRPr lang="en-IN" sz="2800" b="1" dirty="0"/>
          </a:p>
          <a:p>
            <a:r>
              <a:rPr lang="en-IN" sz="2800" b="1" dirty="0">
                <a:ea typeface="+mn-lt"/>
                <a:cs typeface="+mn-lt"/>
              </a:rPr>
              <a:t>Module 1</a:t>
            </a:r>
            <a:r>
              <a:rPr lang="en-IN" sz="2800" dirty="0">
                <a:ea typeface="+mn-lt"/>
                <a:cs typeface="+mn-lt"/>
              </a:rPr>
              <a:t>: User Management</a:t>
            </a:r>
            <a:endParaRPr lang="en-IN" dirty="0">
              <a:ea typeface="Calibri"/>
              <a:cs typeface="Calibri"/>
            </a:endParaRPr>
          </a:p>
          <a:p>
            <a:r>
              <a:rPr lang="en-IN" sz="2800" dirty="0">
                <a:ea typeface="+mn-lt"/>
                <a:cs typeface="+mn-lt"/>
              </a:rPr>
              <a:t>Handles user registration, login, and role-based access control to ensure secure system usage.</a:t>
            </a:r>
            <a:endParaRPr lang="en-IN" dirty="0">
              <a:ea typeface="Calibri"/>
              <a:cs typeface="Calibri"/>
            </a:endParaRPr>
          </a:p>
          <a:p>
            <a:endParaRPr lang="en-IN" dirty="0">
              <a:ea typeface="Calibri"/>
              <a:cs typeface="Calibri"/>
            </a:endParaRPr>
          </a:p>
          <a:p>
            <a:r>
              <a:rPr lang="en-IN" sz="2800" b="1" dirty="0">
                <a:ea typeface="+mn-lt"/>
                <a:cs typeface="+mn-lt"/>
              </a:rPr>
              <a:t>Module 2</a:t>
            </a:r>
            <a:r>
              <a:rPr lang="en-IN" sz="2800" dirty="0">
                <a:ea typeface="+mn-lt"/>
                <a:cs typeface="+mn-lt"/>
              </a:rPr>
              <a:t>: Inventory Management</a:t>
            </a:r>
            <a:endParaRPr lang="en-IN" dirty="0">
              <a:ea typeface="Calibri"/>
              <a:cs typeface="Calibri"/>
            </a:endParaRPr>
          </a:p>
          <a:p>
            <a:r>
              <a:rPr lang="en-IN" sz="2800" dirty="0">
                <a:ea typeface="+mn-lt"/>
                <a:cs typeface="+mn-lt"/>
              </a:rPr>
              <a:t>Manages stock entries, updates, and deletions; tracks product quantities and movements in real-time.</a:t>
            </a:r>
            <a:endParaRPr lang="en-IN" dirty="0">
              <a:ea typeface="Calibri"/>
              <a:cs typeface="Calibri"/>
            </a:endParaRPr>
          </a:p>
          <a:p>
            <a:endParaRPr lang="en-IN" dirty="0">
              <a:ea typeface="Calibri"/>
              <a:cs typeface="Calibri"/>
            </a:endParaRPr>
          </a:p>
          <a:p>
            <a:r>
              <a:rPr lang="en-IN" sz="2800" b="1" dirty="0">
                <a:ea typeface="+mn-lt"/>
                <a:cs typeface="+mn-lt"/>
              </a:rPr>
              <a:t>Module 3</a:t>
            </a:r>
            <a:r>
              <a:rPr lang="en-IN" sz="2800" dirty="0">
                <a:ea typeface="+mn-lt"/>
                <a:cs typeface="+mn-lt"/>
              </a:rPr>
              <a:t>: Supplier &amp; Purchase Management</a:t>
            </a:r>
            <a:endParaRPr lang="en-IN" dirty="0">
              <a:ea typeface="Calibri"/>
              <a:cs typeface="Calibri"/>
            </a:endParaRPr>
          </a:p>
          <a:p>
            <a:r>
              <a:rPr lang="en-IN" sz="2800" dirty="0">
                <a:ea typeface="+mn-lt"/>
                <a:cs typeface="+mn-lt"/>
              </a:rPr>
              <a:t>Maintains supplier details, purchase orders, and delivery records to streamline procurement.</a:t>
            </a:r>
            <a:endParaRPr lang="en-IN" dirty="0">
              <a:ea typeface="Calibri"/>
              <a:cs typeface="Calibri"/>
            </a:endParaRPr>
          </a:p>
          <a:p>
            <a:endParaRPr lang="en-IN" dirty="0">
              <a:ea typeface="Calibri"/>
              <a:cs typeface="Calibri"/>
            </a:endParaRPr>
          </a:p>
          <a:p>
            <a:r>
              <a:rPr lang="en-IN" sz="2800" b="1" dirty="0">
                <a:ea typeface="+mn-lt"/>
                <a:cs typeface="+mn-lt"/>
              </a:rPr>
              <a:t>Module 4</a:t>
            </a:r>
            <a:r>
              <a:rPr lang="en-IN" sz="2800" dirty="0">
                <a:ea typeface="+mn-lt"/>
                <a:cs typeface="+mn-lt"/>
              </a:rPr>
              <a:t>: Sales &amp; Order Management</a:t>
            </a:r>
            <a:endParaRPr lang="en-IN" dirty="0">
              <a:ea typeface="Calibri"/>
              <a:cs typeface="Calibri"/>
            </a:endParaRPr>
          </a:p>
          <a:p>
            <a:r>
              <a:rPr lang="en-IN" sz="2800" dirty="0">
                <a:ea typeface="+mn-lt"/>
                <a:cs typeface="+mn-lt"/>
              </a:rPr>
              <a:t>Processes sales, updates inventory automatically, and tracks order </a:t>
            </a:r>
            <a:r>
              <a:rPr lang="en-IN" sz="2800" dirty="0" err="1">
                <a:ea typeface="+mn-lt"/>
                <a:cs typeface="+mn-lt"/>
              </a:rPr>
              <a:t>fulfillment</a:t>
            </a:r>
            <a:r>
              <a:rPr lang="en-IN" sz="2800" dirty="0">
                <a:ea typeface="+mn-lt"/>
                <a:cs typeface="+mn-lt"/>
              </a:rPr>
              <a:t>.</a:t>
            </a:r>
            <a:endParaRPr lang="en-IN" dirty="0">
              <a:ea typeface="Calibri"/>
              <a:cs typeface="Calibri"/>
            </a:endParaRPr>
          </a:p>
          <a:p>
            <a:endParaRPr lang="en-IN" dirty="0">
              <a:ea typeface="Calibri"/>
              <a:cs typeface="Calibri"/>
            </a:endParaRPr>
          </a:p>
          <a:p>
            <a:r>
              <a:rPr lang="en-IN" sz="2800" b="1" dirty="0">
                <a:ea typeface="+mn-lt"/>
                <a:cs typeface="+mn-lt"/>
              </a:rPr>
              <a:t>Module 5</a:t>
            </a:r>
            <a:r>
              <a:rPr lang="en-IN" sz="2800" dirty="0">
                <a:ea typeface="+mn-lt"/>
                <a:cs typeface="+mn-lt"/>
              </a:rPr>
              <a:t>: Database Management</a:t>
            </a:r>
            <a:endParaRPr lang="en-IN" dirty="0">
              <a:ea typeface="Calibri"/>
              <a:cs typeface="Calibri"/>
            </a:endParaRPr>
          </a:p>
          <a:p>
            <a:r>
              <a:rPr lang="en-IN" sz="2800" dirty="0">
                <a:ea typeface="+mn-lt"/>
                <a:cs typeface="+mn-lt"/>
              </a:rPr>
              <a:t>Stores and organizes inventory, supplier, and sales data in a relational database, ensuring integrity and easy retrieval.</a:t>
            </a:r>
            <a:endParaRPr lang="en-IN" dirty="0">
              <a:ea typeface="Calibri"/>
              <a:cs typeface="Calibri"/>
            </a:endParaRPr>
          </a:p>
          <a:p>
            <a:endParaRPr lang="en-IN" dirty="0">
              <a:ea typeface="Calibri"/>
              <a:cs typeface="Calibri"/>
            </a:endParaRPr>
          </a:p>
          <a:p>
            <a:r>
              <a:rPr lang="en-IN" sz="2800" b="1" dirty="0">
                <a:ea typeface="+mn-lt"/>
                <a:cs typeface="+mn-lt"/>
              </a:rPr>
              <a:t>Module 6</a:t>
            </a:r>
            <a:r>
              <a:rPr lang="en-IN" sz="2800" dirty="0">
                <a:ea typeface="+mn-lt"/>
                <a:cs typeface="+mn-lt"/>
              </a:rPr>
              <a:t>: Reporting &amp; Alerts</a:t>
            </a:r>
            <a:endParaRPr lang="en-IN" dirty="0">
              <a:ea typeface="Calibri"/>
              <a:cs typeface="Calibri"/>
            </a:endParaRPr>
          </a:p>
          <a:p>
            <a:r>
              <a:rPr lang="en-IN" sz="2800" dirty="0">
                <a:ea typeface="+mn-lt"/>
                <a:cs typeface="+mn-lt"/>
              </a:rPr>
              <a:t>Generates stock reports, low-stock alerts, and sales analytics for informed decision-making.</a:t>
            </a:r>
            <a:endParaRPr lang="en-IN"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descr="A screenshot of a login form&#10;&#10;AI-generated content may be incorrect.">
            <a:extLst>
              <a:ext uri="{FF2B5EF4-FFF2-40B4-BE49-F238E27FC236}">
                <a16:creationId xmlns:a16="http://schemas.microsoft.com/office/drawing/2014/main" id="{16CB0315-7883-9497-5755-6757562A967F}"/>
              </a:ext>
            </a:extLst>
          </p:cNvPr>
          <p:cNvPicPr>
            <a:picLocks noChangeAspect="1"/>
          </p:cNvPicPr>
          <p:nvPr/>
        </p:nvPicPr>
        <p:blipFill>
          <a:blip r:embed="rId4"/>
          <a:stretch>
            <a:fillRect/>
          </a:stretch>
        </p:blipFill>
        <p:spPr>
          <a:xfrm>
            <a:off x="2559170" y="1672716"/>
            <a:ext cx="14312662" cy="6704343"/>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descr="A screenshot of a computer&#10;&#10;AI-generated content may be incorrect.">
            <a:extLst>
              <a:ext uri="{FF2B5EF4-FFF2-40B4-BE49-F238E27FC236}">
                <a16:creationId xmlns:a16="http://schemas.microsoft.com/office/drawing/2014/main" id="{2E721247-5884-28D2-78E8-2E789FE19FCC}"/>
              </a:ext>
            </a:extLst>
          </p:cNvPr>
          <p:cNvPicPr>
            <a:picLocks noChangeAspect="1"/>
          </p:cNvPicPr>
          <p:nvPr/>
        </p:nvPicPr>
        <p:blipFill>
          <a:blip r:embed="rId4"/>
          <a:stretch>
            <a:fillRect/>
          </a:stretch>
        </p:blipFill>
        <p:spPr>
          <a:xfrm>
            <a:off x="2149415" y="1562458"/>
            <a:ext cx="14636151" cy="7981592"/>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4F1FDA9-74C6-1C50-B917-C99224D29C72}"/>
              </a:ext>
            </a:extLst>
          </p:cNvPr>
          <p:cNvSpPr txBox="1"/>
          <p:nvPr/>
        </p:nvSpPr>
        <p:spPr>
          <a:xfrm>
            <a:off x="1958839" y="1366043"/>
            <a:ext cx="15035840" cy="85869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Advantages</a:t>
            </a:r>
            <a:endParaRPr lang="en-US" sz="2400" b="1" dirty="0">
              <a:ea typeface="Calibri"/>
              <a:cs typeface="Calibri"/>
            </a:endParaRPr>
          </a:p>
          <a:p>
            <a:endParaRPr lang="en-US" sz="2400" dirty="0">
              <a:ea typeface="Calibri"/>
              <a:cs typeface="Calibri"/>
            </a:endParaRPr>
          </a:p>
          <a:p>
            <a:r>
              <a:rPr lang="en-US" sz="2800" dirty="0">
                <a:ea typeface="+mn-lt"/>
                <a:cs typeface="+mn-lt"/>
              </a:rPr>
              <a:t>Real-time Inventory Tracking: Keeps stock levels updated automatically, reducing errors.</a:t>
            </a:r>
            <a:endParaRPr lang="en-US" sz="2800" dirty="0">
              <a:ea typeface="Calibri"/>
              <a:cs typeface="Calibri"/>
            </a:endParaRPr>
          </a:p>
          <a:p>
            <a:endParaRPr lang="en-US" sz="2800" dirty="0">
              <a:ea typeface="Calibri"/>
              <a:cs typeface="Calibri"/>
            </a:endParaRPr>
          </a:p>
          <a:p>
            <a:r>
              <a:rPr lang="en-US" sz="2800" dirty="0">
                <a:ea typeface="+mn-lt"/>
                <a:cs typeface="+mn-lt"/>
              </a:rPr>
              <a:t>Efficient Stock Management: Prevents overstocking and stockouts with alerts for low inventory.</a:t>
            </a:r>
            <a:endParaRPr lang="en-US" sz="2800" dirty="0">
              <a:ea typeface="Calibri"/>
              <a:cs typeface="Calibri"/>
            </a:endParaRPr>
          </a:p>
          <a:p>
            <a:endParaRPr lang="en-US" sz="2800" dirty="0">
              <a:ea typeface="Calibri"/>
              <a:cs typeface="Calibri"/>
            </a:endParaRPr>
          </a:p>
          <a:p>
            <a:r>
              <a:rPr lang="en-US" sz="2800" dirty="0">
                <a:ea typeface="+mn-lt"/>
                <a:cs typeface="+mn-lt"/>
              </a:rPr>
              <a:t>Improved Decision-Making: Generates reports and analytics for better procurement and sales planning.</a:t>
            </a:r>
            <a:endParaRPr lang="en-US" sz="2800" dirty="0">
              <a:ea typeface="Calibri"/>
              <a:cs typeface="Calibri"/>
            </a:endParaRPr>
          </a:p>
          <a:p>
            <a:endParaRPr lang="en-US" sz="2800" dirty="0">
              <a:ea typeface="Calibri"/>
              <a:cs typeface="Calibri"/>
            </a:endParaRPr>
          </a:p>
          <a:p>
            <a:r>
              <a:rPr lang="en-US" sz="2800" dirty="0">
                <a:ea typeface="+mn-lt"/>
                <a:cs typeface="+mn-lt"/>
              </a:rPr>
              <a:t>Time &amp; Cost Saving: Reduces manual work and operational inefficiencies.</a:t>
            </a:r>
            <a:endParaRPr lang="en-US" sz="2800" dirty="0">
              <a:ea typeface="Calibri"/>
              <a:cs typeface="Calibri"/>
            </a:endParaRPr>
          </a:p>
          <a:p>
            <a:endParaRPr lang="en-US" sz="2800" dirty="0">
              <a:ea typeface="Calibri"/>
              <a:cs typeface="Calibri"/>
            </a:endParaRPr>
          </a:p>
          <a:p>
            <a:r>
              <a:rPr lang="en-US" sz="2800" b="1" dirty="0">
                <a:ea typeface="+mn-lt"/>
                <a:cs typeface="+mn-lt"/>
              </a:rPr>
              <a:t>Limitations</a:t>
            </a:r>
            <a:endParaRPr lang="en-US" sz="2400" b="1" dirty="0">
              <a:ea typeface="Calibri"/>
              <a:cs typeface="Calibri"/>
            </a:endParaRPr>
          </a:p>
          <a:p>
            <a:endParaRPr lang="en-US" sz="2400" dirty="0">
              <a:ea typeface="Calibri"/>
              <a:cs typeface="Calibri"/>
            </a:endParaRPr>
          </a:p>
          <a:p>
            <a:r>
              <a:rPr lang="en-US" sz="2800" dirty="0">
                <a:ea typeface="+mn-lt"/>
                <a:cs typeface="+mn-lt"/>
              </a:rPr>
              <a:t>Initial Setup Cost: Implementation may require investment in software, hardware, and training.</a:t>
            </a:r>
            <a:endParaRPr lang="en-US" sz="2800" dirty="0">
              <a:ea typeface="Calibri"/>
              <a:cs typeface="Calibri"/>
            </a:endParaRPr>
          </a:p>
          <a:p>
            <a:endParaRPr lang="en-US" sz="2800" dirty="0">
              <a:ea typeface="Calibri"/>
              <a:cs typeface="Calibri"/>
            </a:endParaRPr>
          </a:p>
          <a:p>
            <a:r>
              <a:rPr lang="en-US" sz="2800" dirty="0">
                <a:ea typeface="+mn-lt"/>
                <a:cs typeface="+mn-lt"/>
              </a:rPr>
              <a:t>Technical Expertise Required: Users need basic knowledge of the system to operate effectively.</a:t>
            </a:r>
            <a:endParaRPr lang="en-US" sz="2800" dirty="0">
              <a:ea typeface="Calibri"/>
              <a:cs typeface="Calibri"/>
            </a:endParaRPr>
          </a:p>
          <a:p>
            <a:endParaRPr lang="en-US" sz="2800" dirty="0">
              <a:ea typeface="Calibri"/>
              <a:cs typeface="Calibri"/>
            </a:endParaRPr>
          </a:p>
          <a:p>
            <a:r>
              <a:rPr lang="en-US" sz="2800" dirty="0">
                <a:ea typeface="+mn-lt"/>
                <a:cs typeface="+mn-lt"/>
              </a:rPr>
              <a:t>Dependence on Database &amp; System: System failure or database corruption can disrupt operations.</a:t>
            </a:r>
            <a:endParaRPr lang="en-US" sz="2800" dirty="0">
              <a:ea typeface="Calibri"/>
              <a:cs typeface="Calibri"/>
            </a:endParaRPr>
          </a:p>
          <a:p>
            <a:endParaRPr lang="en-US" sz="2800" dirty="0">
              <a:ea typeface="Calibri"/>
              <a:cs typeface="Calibri"/>
            </a:endParaRPr>
          </a:p>
          <a:p>
            <a:r>
              <a:rPr lang="en-US" sz="2800" dirty="0">
                <a:ea typeface="+mn-lt"/>
                <a:cs typeface="+mn-lt"/>
              </a:rPr>
              <a:t>Scalability Challenges: May need upgrades for very large inventories or multiple locations.</a:t>
            </a:r>
            <a:endParaRPr lang="en-US" sz="2800" dirty="0"/>
          </a:p>
        </p:txBody>
      </p:sp>
      <p:sp>
        <p:nvSpPr>
          <p:cNvPr id="4" name="Oval 3">
            <a:extLst>
              <a:ext uri="{FF2B5EF4-FFF2-40B4-BE49-F238E27FC236}">
                <a16:creationId xmlns:a16="http://schemas.microsoft.com/office/drawing/2014/main" id="{CF343FB3-EF65-54EB-22C9-E969B39193DD}"/>
              </a:ext>
            </a:extLst>
          </p:cNvPr>
          <p:cNvSpPr/>
          <p:nvPr/>
        </p:nvSpPr>
        <p:spPr>
          <a:xfrm>
            <a:off x="1852076" y="2398971"/>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7B4623-FC01-DC7F-4917-F02F536C164C}"/>
              </a:ext>
            </a:extLst>
          </p:cNvPr>
          <p:cNvSpPr/>
          <p:nvPr/>
        </p:nvSpPr>
        <p:spPr>
          <a:xfrm>
            <a:off x="1852076" y="3244914"/>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E7D5375-6326-310D-23A0-7EA7F046B947}"/>
              </a:ext>
            </a:extLst>
          </p:cNvPr>
          <p:cNvSpPr/>
          <p:nvPr/>
        </p:nvSpPr>
        <p:spPr>
          <a:xfrm>
            <a:off x="1852076" y="4090857"/>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90BED3A-D4AB-5D2E-DF0F-D39581E472C1}"/>
              </a:ext>
            </a:extLst>
          </p:cNvPr>
          <p:cNvSpPr/>
          <p:nvPr/>
        </p:nvSpPr>
        <p:spPr>
          <a:xfrm>
            <a:off x="1852076" y="5351750"/>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60AC92E-EAD7-8D2D-70F6-15E0C6253BBB}"/>
              </a:ext>
            </a:extLst>
          </p:cNvPr>
          <p:cNvSpPr/>
          <p:nvPr/>
        </p:nvSpPr>
        <p:spPr>
          <a:xfrm>
            <a:off x="1881060" y="7070516"/>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D9EC3A1-E2DD-BCD0-2315-59AE2AC40D9F}"/>
              </a:ext>
            </a:extLst>
          </p:cNvPr>
          <p:cNvSpPr/>
          <p:nvPr/>
        </p:nvSpPr>
        <p:spPr>
          <a:xfrm>
            <a:off x="1881060" y="7888029"/>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F5ACB6E-C8A5-5CB8-F0C6-A81549124473}"/>
              </a:ext>
            </a:extLst>
          </p:cNvPr>
          <p:cNvSpPr/>
          <p:nvPr/>
        </p:nvSpPr>
        <p:spPr>
          <a:xfrm>
            <a:off x="1852076" y="8724302"/>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1FF61F1-CFD9-7A9D-0AAD-2A3E7890455C}"/>
              </a:ext>
            </a:extLst>
          </p:cNvPr>
          <p:cNvSpPr/>
          <p:nvPr/>
        </p:nvSpPr>
        <p:spPr>
          <a:xfrm>
            <a:off x="1852076" y="9584134"/>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976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TotalTime>
  <Words>1129</Words>
  <Application>Microsoft Office PowerPoint</Application>
  <PresentationFormat>Custom</PresentationFormat>
  <Paragraphs>298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Bookman Old Style</vt:lpstr>
      <vt:lpstr>Arial</vt:lpstr>
      <vt:lpstr>Calibri</vt:lpstr>
      <vt:lpstr>Times New Roman</vt:lpstr>
      <vt:lpstr>Cambria</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Lokesh, Vadde (V.)</cp:lastModifiedBy>
  <cp:revision>85</cp:revision>
  <dcterms:created xsi:type="dcterms:W3CDTF">2006-08-16T00:00:00Z</dcterms:created>
  <dcterms:modified xsi:type="dcterms:W3CDTF">2026-03-22T10:35:20Z</dcterms:modified>
  <dc:identifier>DAHCaYqJ9OU</dc:identifier>
</cp:coreProperties>
</file>