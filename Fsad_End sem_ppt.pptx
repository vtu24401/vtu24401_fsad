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70" r:id="rId13"/>
    <p:sldId id="265" r:id="rId14"/>
  </p:sldIdLst>
  <p:sldSz cx="18288000" cy="10287000"/>
  <p:notesSz cx="6858000" cy="9144000"/>
  <p:embeddedFontLst>
    <p:embeddedFont>
      <p:font typeface="Bookman Old Style" panose="02050604050505020204" pitchFamily="18" charset="0"/>
      <p:regular r:id="rId15"/>
      <p:bold r:id="rId16"/>
      <p:italic r:id="rId17"/>
      <p:boldItalic r:id="rId18"/>
    </p:embeddedFont>
    <p:embeddedFont>
      <p:font typeface="Cambria" panose="02040503050406030204" pitchFamily="18" charset="0"/>
      <p:regular r:id="rId19"/>
      <p:bold r:id="rId20"/>
      <p:italic r:id="rId21"/>
      <p:boldItalic r:id="rId22"/>
    </p:embeddedFont>
    <p:embeddedFont>
      <p:font typeface="Gotham" panose="020B0604020202020204" charset="0"/>
      <p:regular r:id="rId23"/>
    </p:embeddedFont>
    <p:embeddedFont>
      <p:font typeface="Gotham Bold Italics"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F2FB7F-1246-4F63-8208-D4AF4D1CC707}" v="11" dt="2026-05-02T15:42:15.4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autoAdjust="0"/>
    <p:restoredTop sz="94622" autoAdjust="0"/>
  </p:normalViewPr>
  <p:slideViewPr>
    <p:cSldViewPr>
      <p:cViewPr varScale="1">
        <p:scale>
          <a:sx n="60" d="100"/>
          <a:sy n="60" d="100"/>
        </p:scale>
        <p:origin x="533"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a kunchapu" userId="0dc7249dfa148f15" providerId="LiveId" clId="{E4DB340B-4094-4FE8-B2BA-E8C13407A5D1}"/>
    <pc:docChg chg="custSel modSld">
      <pc:chgData name="vandana kunchapu" userId="0dc7249dfa148f15" providerId="LiveId" clId="{E4DB340B-4094-4FE8-B2BA-E8C13407A5D1}" dt="2026-05-06T04:46:21.729" v="345" actId="1076"/>
      <pc:docMkLst>
        <pc:docMk/>
      </pc:docMkLst>
      <pc:sldChg chg="modSp mod">
        <pc:chgData name="vandana kunchapu" userId="0dc7249dfa148f15" providerId="LiveId" clId="{E4DB340B-4094-4FE8-B2BA-E8C13407A5D1}" dt="2026-05-06T04:45:12.954" v="342" actId="20577"/>
        <pc:sldMkLst>
          <pc:docMk/>
          <pc:sldMk cId="0" sldId="256"/>
        </pc:sldMkLst>
        <pc:spChg chg="mod">
          <ac:chgData name="vandana kunchapu" userId="0dc7249dfa148f15" providerId="LiveId" clId="{E4DB340B-4094-4FE8-B2BA-E8C13407A5D1}" dt="2026-05-02T15:33:44.309" v="102" actId="20577"/>
          <ac:spMkLst>
            <pc:docMk/>
            <pc:sldMk cId="0" sldId="256"/>
            <ac:spMk id="13" creationId="{7FFE0DA2-4723-7C13-5FD7-FC99B0394DDD}"/>
          </ac:spMkLst>
        </pc:spChg>
        <pc:spChg chg="mod">
          <ac:chgData name="vandana kunchapu" userId="0dc7249dfa148f15" providerId="LiveId" clId="{E4DB340B-4094-4FE8-B2BA-E8C13407A5D1}" dt="2026-05-02T15:45:25.065" v="271" actId="20577"/>
          <ac:spMkLst>
            <pc:docMk/>
            <pc:sldMk cId="0" sldId="256"/>
            <ac:spMk id="14" creationId="{EA8EEF4A-EB43-B7D9-87FC-7C7D752BCA78}"/>
          </ac:spMkLst>
        </pc:spChg>
        <pc:spChg chg="mod">
          <ac:chgData name="vandana kunchapu" userId="0dc7249dfa148f15" providerId="LiveId" clId="{E4DB340B-4094-4FE8-B2BA-E8C13407A5D1}" dt="2026-05-06T04:45:12.954" v="342" actId="20577"/>
          <ac:spMkLst>
            <pc:docMk/>
            <pc:sldMk cId="0" sldId="256"/>
            <ac:spMk id="15" creationId="{6FF32D1A-2F9C-AC53-CCBD-ABF748DF236F}"/>
          </ac:spMkLst>
        </pc:spChg>
        <pc:spChg chg="mod">
          <ac:chgData name="vandana kunchapu" userId="0dc7249dfa148f15" providerId="LiveId" clId="{E4DB340B-4094-4FE8-B2BA-E8C13407A5D1}" dt="2026-05-06T04:44:45.009" v="322" actId="20577"/>
          <ac:spMkLst>
            <pc:docMk/>
            <pc:sldMk cId="0" sldId="256"/>
            <ac:spMk id="27" creationId="{AC6C53BF-3850-6683-E07F-D595EC8B02B2}"/>
          </ac:spMkLst>
        </pc:spChg>
      </pc:sldChg>
      <pc:sldChg chg="modSp mod">
        <pc:chgData name="vandana kunchapu" userId="0dc7249dfa148f15" providerId="LiveId" clId="{E4DB340B-4094-4FE8-B2BA-E8C13407A5D1}" dt="2026-05-02T15:35:54.035" v="133" actId="20577"/>
        <pc:sldMkLst>
          <pc:docMk/>
          <pc:sldMk cId="0" sldId="257"/>
        </pc:sldMkLst>
        <pc:spChg chg="mod">
          <ac:chgData name="vandana kunchapu" userId="0dc7249dfa148f15" providerId="LiveId" clId="{E4DB340B-4094-4FE8-B2BA-E8C13407A5D1}" dt="2026-05-02T15:35:54.035" v="133" actId="20577"/>
          <ac:spMkLst>
            <pc:docMk/>
            <pc:sldMk cId="0" sldId="257"/>
            <ac:spMk id="3" creationId="{837E9E58-77B6-079D-9D0D-E380CADAD23D}"/>
          </ac:spMkLst>
        </pc:spChg>
      </pc:sldChg>
      <pc:sldChg chg="modSp mod">
        <pc:chgData name="vandana kunchapu" userId="0dc7249dfa148f15" providerId="LiveId" clId="{E4DB340B-4094-4FE8-B2BA-E8C13407A5D1}" dt="2026-05-02T15:37:04.105" v="165" actId="20577"/>
        <pc:sldMkLst>
          <pc:docMk/>
          <pc:sldMk cId="0" sldId="258"/>
        </pc:sldMkLst>
        <pc:spChg chg="mod">
          <ac:chgData name="vandana kunchapu" userId="0dc7249dfa148f15" providerId="LiveId" clId="{E4DB340B-4094-4FE8-B2BA-E8C13407A5D1}" dt="2026-05-02T15:37:04.105" v="165" actId="20577"/>
          <ac:spMkLst>
            <pc:docMk/>
            <pc:sldMk cId="0" sldId="258"/>
            <ac:spMk id="48" creationId="{BDE2941C-1504-53F9-99B2-48002CA9A345}"/>
          </ac:spMkLst>
        </pc:spChg>
      </pc:sldChg>
      <pc:sldChg chg="addSp delSp modSp mod">
        <pc:chgData name="vandana kunchapu" userId="0dc7249dfa148f15" providerId="LiveId" clId="{E4DB340B-4094-4FE8-B2BA-E8C13407A5D1}" dt="2026-05-06T04:46:21.729" v="345" actId="1076"/>
        <pc:sldMkLst>
          <pc:docMk/>
          <pc:sldMk cId="0" sldId="261"/>
        </pc:sldMkLst>
        <pc:spChg chg="add mod">
          <ac:chgData name="vandana kunchapu" userId="0dc7249dfa148f15" providerId="LiveId" clId="{E4DB340B-4094-4FE8-B2BA-E8C13407A5D1}" dt="2026-05-02T15:37:32.597" v="167"/>
          <ac:spMkLst>
            <pc:docMk/>
            <pc:sldMk cId="0" sldId="261"/>
            <ac:spMk id="2" creationId="{CB6CB81F-4E1D-33CB-92D5-3F86F23FA032}"/>
          </ac:spMkLst>
        </pc:spChg>
        <pc:spChg chg="add mod">
          <ac:chgData name="vandana kunchapu" userId="0dc7249dfa148f15" providerId="LiveId" clId="{E4DB340B-4094-4FE8-B2BA-E8C13407A5D1}" dt="2026-05-02T15:37:38.896" v="169" actId="14100"/>
          <ac:spMkLst>
            <pc:docMk/>
            <pc:sldMk cId="0" sldId="261"/>
            <ac:spMk id="4" creationId="{534AABDA-60D4-C9DD-82F4-3470C85B894F}"/>
          </ac:spMkLst>
        </pc:spChg>
        <pc:picChg chg="add del mod">
          <ac:chgData name="vandana kunchapu" userId="0dc7249dfa148f15" providerId="LiveId" clId="{E4DB340B-4094-4FE8-B2BA-E8C13407A5D1}" dt="2026-05-06T04:46:06.862" v="343" actId="478"/>
          <ac:picMkLst>
            <pc:docMk/>
            <pc:sldMk cId="0" sldId="261"/>
            <ac:picMk id="33" creationId="{9E914721-459F-052C-70AD-077BFFC399DB}"/>
          </ac:picMkLst>
        </pc:picChg>
        <pc:picChg chg="add mod">
          <ac:chgData name="vandana kunchapu" userId="0dc7249dfa148f15" providerId="LiveId" clId="{E4DB340B-4094-4FE8-B2BA-E8C13407A5D1}" dt="2026-05-06T04:46:21.729" v="345" actId="1076"/>
          <ac:picMkLst>
            <pc:docMk/>
            <pc:sldMk cId="0" sldId="261"/>
            <ac:picMk id="35" creationId="{6AF4BDBC-6D79-CE68-3FAE-E78CBFCC934A}"/>
          </ac:picMkLst>
        </pc:picChg>
      </pc:sldChg>
      <pc:sldChg chg="modSp mod">
        <pc:chgData name="vandana kunchapu" userId="0dc7249dfa148f15" providerId="LiveId" clId="{E4DB340B-4094-4FE8-B2BA-E8C13407A5D1}" dt="2026-05-02T15:44:36.245" v="218" actId="20577"/>
        <pc:sldMkLst>
          <pc:docMk/>
          <pc:sldMk cId="0" sldId="264"/>
        </pc:sldMkLst>
        <pc:spChg chg="mod">
          <ac:chgData name="vandana kunchapu" userId="0dc7249dfa148f15" providerId="LiveId" clId="{E4DB340B-4094-4FE8-B2BA-E8C13407A5D1}" dt="2026-05-02T15:44:36.245" v="218" actId="20577"/>
          <ac:spMkLst>
            <pc:docMk/>
            <pc:sldMk cId="0" sldId="264"/>
            <ac:spMk id="44" creationId="{9304C197-EAC7-7A26-FAED-ED7302DBEC6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 </a:t>
            </a:r>
            <a:r>
              <a:rPr lang="en-US" sz="3200" b="1" dirty="0" err="1">
                <a:solidFill>
                  <a:srgbClr val="0033CC"/>
                </a:solidFill>
                <a:latin typeface="Times New Roman" panose="02020603050405020304" pitchFamily="18" charset="0"/>
                <a:cs typeface="Times New Roman" panose="02020603050405020304" pitchFamily="18" charset="0"/>
              </a:rPr>
              <a:t>HireSphere</a:t>
            </a:r>
            <a:r>
              <a:rPr lang="en-US" sz="3200" b="1" dirty="0">
                <a:solidFill>
                  <a:srgbClr val="0033CC"/>
                </a:solidFill>
                <a:latin typeface="Times New Roman" panose="02020603050405020304" pitchFamily="18" charset="0"/>
                <a:cs typeface="Times New Roman" panose="02020603050405020304" pitchFamily="18" charset="0"/>
              </a:rPr>
              <a:t> – Where Talent meets </a:t>
            </a:r>
            <a:r>
              <a:rPr lang="en-US" sz="3200" b="1" dirty="0" err="1">
                <a:solidFill>
                  <a:srgbClr val="0033CC"/>
                </a:solidFill>
                <a:latin typeface="Times New Roman" panose="02020603050405020304" pitchFamily="18" charset="0"/>
                <a:cs typeface="Times New Roman" panose="02020603050405020304" pitchFamily="18" charset="0"/>
              </a:rPr>
              <a:t>Oppurtunity</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Kunchapu Vandana– VTU24401–23UECS0788</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err="1">
                <a:latin typeface="Cambria" panose="02040503050406030204" pitchFamily="18" charset="0"/>
                <a:ea typeface="Cambria" panose="02040503050406030204" pitchFamily="18" charset="0"/>
              </a:rPr>
              <a:t>Dr.S.Hemamalini</a:t>
            </a:r>
            <a:r>
              <a:rPr lang="en-US" sz="3000" dirty="0">
                <a:latin typeface="Cambria" panose="02040503050406030204" pitchFamily="18" charset="0"/>
                <a:ea typeface="Cambria" panose="02040503050406030204" pitchFamily="18" charset="0"/>
              </a:rPr>
              <a:t> </a:t>
            </a:r>
          </a:p>
          <a:p>
            <a:pPr>
              <a:lnSpc>
                <a:spcPct val="150000"/>
              </a:lnSpc>
            </a:pPr>
            <a:r>
              <a:rPr lang="en-US" sz="3000" dirty="0">
                <a:latin typeface="Cambria" panose="02040503050406030204" pitchFamily="18" charset="0"/>
                <a:ea typeface="Cambria" panose="02040503050406030204" pitchFamily="18" charset="0"/>
              </a:rPr>
              <a:t>M.E..,</a:t>
            </a:r>
            <a:r>
              <a:rPr lang="en-US" sz="3000" dirty="0" err="1">
                <a:latin typeface="Cambria" panose="02040503050406030204" pitchFamily="18" charset="0"/>
                <a:ea typeface="Cambria" panose="02040503050406030204" pitchFamily="18" charset="0"/>
              </a:rPr>
              <a:t>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a:t>
            </a:r>
            <a:r>
              <a:rPr lang="en-US" sz="2000" b="1" dirty="0"/>
              <a:t>SDG 8 – Decent Work and Economic Growth</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438400" y="2944666"/>
            <a:ext cx="15082325" cy="11356955"/>
          </a:xfrm>
          <a:prstGeom prst="rect">
            <a:avLst/>
          </a:prstGeom>
          <a:noFill/>
        </p:spPr>
        <p:txBody>
          <a:bodyPr wrap="square" lIns="91440" tIns="45720" rIns="91440" bIns="45720" rtlCol="0" anchor="t">
            <a:spAutoFit/>
          </a:bodyPr>
          <a:lstStyle/>
          <a:p>
            <a:r>
              <a:rPr lang="en-US" sz="3200" i="1" dirty="0"/>
              <a:t>           </a:t>
            </a:r>
            <a:r>
              <a:rPr lang="en-US" sz="3200" i="1" dirty="0" err="1"/>
              <a:t>HireSphere</a:t>
            </a:r>
            <a:r>
              <a:rPr lang="en-US" sz="3200" i="1" dirty="0"/>
              <a:t> – Where Talent Meets Opportunity</a:t>
            </a:r>
            <a:r>
              <a:rPr lang="en-US" sz="3200" dirty="0"/>
              <a:t> is a web-based job portal designed to connect job seekers and employers through a single, user-friendly platform. In today’s digital era, traditional recruitment methods are often time-consuming and inefficient. This system provides an organized solution where candidates can search for jobs, create profiles, and apply easily based on their skills and preferences.</a:t>
            </a:r>
          </a:p>
          <a:p>
            <a:r>
              <a:rPr lang="en-US" sz="3200" dirty="0"/>
              <a:t>          The platform also enables employers to post job vacancies, review applications, and select suitable candidates efficiently. With features like search filters, email notifications, and real-time communication, </a:t>
            </a:r>
            <a:r>
              <a:rPr lang="en-US" sz="3200" dirty="0" err="1"/>
              <a:t>HireSphere</a:t>
            </a:r>
            <a:r>
              <a:rPr lang="en-US" sz="3200" dirty="0"/>
              <a:t> improves the overall hiring experience. It aims to bridge the gap between talent and opportunity by making the recruitment process faster, simpler, and more effective</a:t>
            </a:r>
            <a:r>
              <a:rPr lang="en-US" dirty="0"/>
              <a:t>.</a:t>
            </a:r>
          </a:p>
          <a:p>
            <a:endParaRPr lang="en-US" sz="3200" dirty="0"/>
          </a:p>
          <a:p>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99553" y="2488054"/>
            <a:ext cx="15082325" cy="10987623"/>
          </a:xfrm>
          <a:prstGeom prst="rect">
            <a:avLst/>
          </a:prstGeom>
          <a:noFill/>
        </p:spPr>
        <p:txBody>
          <a:bodyPr wrap="square" lIns="91440" tIns="45720" rIns="91440" bIns="45720" rtlCol="0" anchor="t">
            <a:spAutoFit/>
          </a:bodyPr>
          <a:lstStyle/>
          <a:p>
            <a:r>
              <a:rPr lang="en-US" sz="3200" dirty="0"/>
              <a:t>             In today’s competitive job market, the process of connecting job seekers with suitable employment opportunities and helping employers find the right candidates is often inefficient and time-consuming. Traditional recruitment methods lack proper organization, transparency, and speed, making it difficult for candidates to discover relevant jobs and for employers to identify qualified applicants quickly.</a:t>
            </a:r>
          </a:p>
          <a:p>
            <a:r>
              <a:rPr lang="en-US" sz="3200" dirty="0"/>
              <a:t>            There is a need for a centralized, user-friendly platform that simplifies job searching, application management, and candidate selection. The system should reduce the communication gap, improve accessibility, and provide efficient tools for both job seekers and employers to interact seamlessly and make better hiring decisions.</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3662541"/>
          </a:xfrm>
          <a:prstGeom prst="rect">
            <a:avLst/>
          </a:prstGeom>
          <a:noFill/>
        </p:spPr>
        <p:txBody>
          <a:bodyPr wrap="square" lIns="91440" tIns="45720" rIns="91440" bIns="45720" rtlCol="0" anchor="t">
            <a:spAutoFit/>
          </a:bodyPr>
          <a:lstStyle/>
          <a:p>
            <a:r>
              <a:rPr lang="en-US" sz="3600" dirty="0">
                <a:ea typeface="+mn-lt"/>
                <a:cs typeface="+mn-lt"/>
              </a:rPr>
              <a:t>  </a:t>
            </a:r>
            <a:endParaRPr lang="en-US" sz="3600" dirty="0">
              <a:ea typeface="Calibri"/>
              <a:cs typeface="Calibri"/>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0A660406-5097-AF65-4BD7-EE251FFE6679}"/>
              </a:ext>
            </a:extLst>
          </p:cNvPr>
          <p:cNvSpPr>
            <a:spLocks noChangeArrowheads="1"/>
          </p:cNvSpPr>
          <p:nvPr/>
        </p:nvSpPr>
        <p:spPr bwMode="auto">
          <a:xfrm>
            <a:off x="0" y="-323168"/>
            <a:ext cx="4114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479644E0-C6B5-DC62-8203-5F2D9BCF7779}"/>
              </a:ext>
            </a:extLst>
          </p:cNvPr>
          <p:cNvSpPr>
            <a:spLocks noChangeArrowheads="1"/>
          </p:cNvSpPr>
          <p:nvPr/>
        </p:nvSpPr>
        <p:spPr bwMode="auto">
          <a:xfrm>
            <a:off x="152400" y="549099"/>
            <a:ext cx="6248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5" name="Rectangle 4">
            <a:extLst>
              <a:ext uri="{FF2B5EF4-FFF2-40B4-BE49-F238E27FC236}">
                <a16:creationId xmlns:a16="http://schemas.microsoft.com/office/drawing/2014/main" id="{5DCE4B5B-B2D6-2431-636E-6949B0D91409}"/>
              </a:ext>
            </a:extLst>
          </p:cNvPr>
          <p:cNvSpPr>
            <a:spLocks noChangeArrowheads="1"/>
          </p:cNvSpPr>
          <p:nvPr/>
        </p:nvSpPr>
        <p:spPr bwMode="auto">
          <a:xfrm>
            <a:off x="2162160" y="1553116"/>
            <a:ext cx="13082812" cy="6678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buFontTx/>
              <a:buChar char="•"/>
            </a:pPr>
            <a:r>
              <a:rPr lang="en-US" sz="2800" dirty="0"/>
              <a:t>To develop an online platform that connects job seekers with employers efficiently.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buFontTx/>
              <a:buChar char="•"/>
            </a:pPr>
            <a:r>
              <a:rPr lang="en-US" sz="2800" dirty="0"/>
              <a:t>To simplify the job search and recruitment process through digital technology.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buFontTx/>
              <a:buChar char="•"/>
            </a:pPr>
            <a:r>
              <a:rPr lang="en-US" sz="2800" dirty="0"/>
              <a:t>To provide users with updated job opportunities based on their skills and qualifications.</a:t>
            </a:r>
          </a:p>
          <a:p>
            <a:pPr eaLnBrk="0" fontAlgn="base" hangingPunct="0">
              <a:spcBef>
                <a:spcPct val="0"/>
              </a:spcBef>
              <a:spcAft>
                <a:spcPct val="0"/>
              </a:spcAft>
              <a:buFontTx/>
              <a:buChar char="•"/>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buFontTx/>
              <a:buChar char="•"/>
            </a:pPr>
            <a:r>
              <a:rPr lang="en-US" sz="2800" dirty="0"/>
              <a:t>To enable employers to post job vacancies and manage applications easily.</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buFontTx/>
              <a:buChar char="•"/>
            </a:pPr>
            <a:r>
              <a:rPr lang="en-US" sz="2800" dirty="0"/>
              <a:t>To reduce unemployment by increasing access to job opportunities</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Arial" panose="020B0604020202020204" pitchFamily="34" charset="0"/>
              </a:rPr>
              <a:t> </a:t>
            </a:r>
          </a:p>
          <a:p>
            <a:pPr eaLnBrk="0" fontAlgn="base" hangingPunct="0">
              <a:spcBef>
                <a:spcPct val="0"/>
              </a:spcBef>
              <a:spcAft>
                <a:spcPct val="0"/>
              </a:spcAft>
              <a:buFontTx/>
              <a:buChar char="•"/>
            </a:pPr>
            <a:r>
              <a:rPr lang="en-US" sz="2800" dirty="0"/>
              <a:t>To provide a user-friendly interface for registration, login, and job applications.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buFontTx/>
              <a:buChar char="•"/>
            </a:pPr>
            <a:r>
              <a:rPr lang="en-US" sz="2800" dirty="0"/>
              <a:t>To improve communication between recruiters and candidates.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6526" y="1982349"/>
            <a:ext cx="15082325" cy="10433625"/>
          </a:xfrm>
          <a:prstGeom prst="rect">
            <a:avLst/>
          </a:prstGeom>
          <a:noFill/>
        </p:spPr>
        <p:txBody>
          <a:bodyPr wrap="square" lIns="91440" tIns="45720" rIns="91440" bIns="45720" rtlCol="0" anchor="t">
            <a:spAutoFit/>
          </a:bodyPr>
          <a:lstStyle/>
          <a:p>
            <a:r>
              <a:rPr lang="en-US" sz="2800" dirty="0"/>
              <a:t>The proposed system is a web-based Job Portal designed to connect job seekers and employers through a single digital platform. The system allows users to register, create profiles, upload resumes, search for jobs, and apply online. Employers can create company accounts, post job vacancies, view applications, and shortlist suitable candidates.</a:t>
            </a:r>
          </a:p>
          <a:p>
            <a:r>
              <a:rPr lang="en-US" sz="2800" dirty="0"/>
              <a:t>The portal provides an easy and efficient recruitment process by reducing manual work and saving time for both recruiters and applicants. It includes features such as job search filters, secure login, application tracking, and notification updates.</a:t>
            </a:r>
          </a:p>
          <a:p>
            <a:r>
              <a:rPr lang="en-US" sz="2800" dirty="0"/>
              <a:t>The proposed system aims to improve employment accessibility, simplify hiring procedures, and create a user-friendly environment for job placement and career opportunities.</a:t>
            </a:r>
          </a:p>
          <a:p>
            <a:br>
              <a:rPr lang="en-US" sz="2800" dirty="0"/>
            </a:br>
            <a:endParaRPr lang="en-US" sz="2800" dirty="0"/>
          </a:p>
          <a:p>
            <a:pPr marL="914400" lvl="1"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BCB84B2-EAA1-2DB0-36D1-50E479C75FC4}"/>
              </a:ext>
            </a:extLst>
          </p:cNvPr>
          <p:cNvSpPr txBox="1"/>
          <p:nvPr/>
        </p:nvSpPr>
        <p:spPr>
          <a:xfrm>
            <a:off x="2464334" y="2075316"/>
            <a:ext cx="7595557" cy="68018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User Authentication Module:</a:t>
            </a:r>
            <a:r>
              <a:rPr lang="en-US" sz="2400" dirty="0"/>
              <a:t> Handles login, registration, and session management using </a:t>
            </a:r>
            <a:r>
              <a:rPr lang="en-US" sz="2400" dirty="0" err="1"/>
              <a:t>Supabase</a:t>
            </a:r>
            <a:r>
              <a:rPr lang="en-US" sz="2400" dirty="0"/>
              <a:t> Auth, supporting email/password and potentially OAuth integrations for enhanced security.</a:t>
            </a:r>
          </a:p>
          <a:p>
            <a:r>
              <a:rPr lang="en-US" sz="2400" b="1" dirty="0"/>
              <a:t>Job Management Module:</a:t>
            </a:r>
            <a:r>
              <a:rPr lang="en-US" sz="2400" dirty="0"/>
              <a:t> Allows employers to create and post job listings with details like title, description, requirements, and location. Job seekers can browse, filter, and view detailed job pages.</a:t>
            </a:r>
          </a:p>
          <a:p>
            <a:r>
              <a:rPr lang="en-US" sz="2400" b="1" dirty="0"/>
              <a:t>Dashboard Module:</a:t>
            </a:r>
            <a:r>
              <a:rPr lang="en-US" sz="2400" dirty="0"/>
              <a:t> Provides personalized views for users—job seekers see applied jobs and recommendations, while employers track applications and manage postings.</a:t>
            </a:r>
          </a:p>
          <a:p>
            <a:r>
              <a:rPr lang="en-US" sz="2400" b="1" dirty="0"/>
              <a:t>Application Process:</a:t>
            </a:r>
            <a:r>
              <a:rPr lang="en-US" sz="2400" dirty="0"/>
              <a:t> Users can apply directly through the portal, with data flowing securely to the database for employer review.</a:t>
            </a:r>
          </a:p>
          <a:p>
            <a:r>
              <a:rPr lang="en-US" sz="2400" b="1" dirty="0"/>
              <a:t>Additional Features:</a:t>
            </a:r>
            <a:r>
              <a:rPr lang="en-US" sz="2400" dirty="0"/>
              <a:t> Includes a contact page for inquiries, responsive design for mobile/desktop access, and potential future integrations like notifications or advanced search.</a:t>
            </a:r>
          </a:p>
          <a:p>
            <a:pPr algn="l"/>
            <a:endParaRPr lang="en-US" sz="2800" dirty="0">
              <a:ea typeface="Calibri"/>
              <a:cs typeface="Calibri"/>
            </a:endParaRPr>
          </a:p>
        </p:txBody>
      </p:sp>
      <p:sp>
        <p:nvSpPr>
          <p:cNvPr id="34" name="AutoShape 8" descr="Job portal system architecture diagram">
            <a:extLst>
              <a:ext uri="{FF2B5EF4-FFF2-40B4-BE49-F238E27FC236}">
                <a16:creationId xmlns:a16="http://schemas.microsoft.com/office/drawing/2014/main" id="{00B0CBB2-40A9-44CF-CB32-9446B7A26E4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AutoShape 2" descr="Job portal system flowchart">
            <a:extLst>
              <a:ext uri="{FF2B5EF4-FFF2-40B4-BE49-F238E27FC236}">
                <a16:creationId xmlns:a16="http://schemas.microsoft.com/office/drawing/2014/main" id="{CB6CB81F-4E1D-33CB-92D5-3F86F23FA032}"/>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4" descr="Job portal system flowchart">
            <a:extLst>
              <a:ext uri="{FF2B5EF4-FFF2-40B4-BE49-F238E27FC236}">
                <a16:creationId xmlns:a16="http://schemas.microsoft.com/office/drawing/2014/main" id="{534AABDA-60D4-C9DD-82F4-3470C85B894F}"/>
              </a:ext>
            </a:extLst>
          </p:cNvPr>
          <p:cNvSpPr>
            <a:spLocks noChangeAspect="1" noChangeArrowheads="1"/>
          </p:cNvSpPr>
          <p:nvPr/>
        </p:nvSpPr>
        <p:spPr bwMode="auto">
          <a:xfrm>
            <a:off x="9296400" y="38100"/>
            <a:ext cx="5562600" cy="5562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5" name="Picture 34">
            <a:extLst>
              <a:ext uri="{FF2B5EF4-FFF2-40B4-BE49-F238E27FC236}">
                <a16:creationId xmlns:a16="http://schemas.microsoft.com/office/drawing/2014/main" id="{6AF4BDBC-6D79-CE68-3FAE-E78CBFCC934A}"/>
              </a:ext>
            </a:extLst>
          </p:cNvPr>
          <p:cNvPicPr>
            <a:picLocks noChangeAspect="1"/>
          </p:cNvPicPr>
          <p:nvPr/>
        </p:nvPicPr>
        <p:blipFill>
          <a:blip r:embed="rId3"/>
          <a:stretch>
            <a:fillRect/>
          </a:stretch>
        </p:blipFill>
        <p:spPr>
          <a:xfrm>
            <a:off x="10972800" y="1987111"/>
            <a:ext cx="5486400" cy="64960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166668" y="1918659"/>
            <a:ext cx="10337797" cy="5262979"/>
          </a:xfrm>
          <a:prstGeom prst="rect">
            <a:avLst/>
          </a:prstGeom>
          <a:noFill/>
        </p:spPr>
        <p:txBody>
          <a:bodyPr wrap="square" lIns="91440" tIns="45720" rIns="91440" bIns="45720" rtlCol="0" anchor="t">
            <a:spAutoFit/>
          </a:bodyPr>
          <a:lstStyle/>
          <a:p>
            <a:r>
              <a:rPr lang="en-US" sz="4400" dirty="0">
                <a:ea typeface="+mn-lt"/>
                <a:cs typeface="+mn-lt"/>
              </a:rPr>
              <a:t>   </a:t>
            </a:r>
            <a:endParaRPr lang="en-US" sz="4000" dirty="0">
              <a:ea typeface="+mn-lt"/>
              <a:cs typeface="+mn-lt"/>
            </a:endParaRPr>
          </a:p>
          <a:p>
            <a:r>
              <a:rPr lang="en-US" sz="4000" dirty="0">
                <a:ea typeface="+mn-lt"/>
                <a:cs typeface="+mn-lt"/>
              </a:rPr>
              <a:t>           </a:t>
            </a:r>
            <a:endParaRPr lang="en-US" sz="24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6FFEED4A-BD8A-064C-9E10-DE450B3CAB97}"/>
              </a:ext>
            </a:extLst>
          </p:cNvPr>
          <p:cNvPicPr>
            <a:picLocks noChangeAspect="1"/>
          </p:cNvPicPr>
          <p:nvPr/>
        </p:nvPicPr>
        <p:blipFill>
          <a:blip r:embed="rId3"/>
          <a:stretch>
            <a:fillRect/>
          </a:stretch>
        </p:blipFill>
        <p:spPr>
          <a:xfrm>
            <a:off x="5334000" y="2324100"/>
            <a:ext cx="6832597" cy="6172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794004" cy="13018949"/>
          </a:xfrm>
          <a:prstGeom prst="rect">
            <a:avLst/>
          </a:prstGeom>
          <a:noFill/>
        </p:spPr>
        <p:txBody>
          <a:bodyPr wrap="square" lIns="91440" tIns="45720" rIns="91440" bIns="45720" rtlCol="0" anchor="t">
            <a:spAutoFit/>
          </a:bodyPr>
          <a:lstStyle/>
          <a:p>
            <a:pPr>
              <a:buFont typeface="Arial"/>
              <a:buChar char="•"/>
            </a:pPr>
            <a:r>
              <a:rPr lang="en-US" sz="2800" b="1" dirty="0">
                <a:ea typeface="+mn-lt"/>
                <a:cs typeface="+mn-lt"/>
              </a:rPr>
              <a:t>Frontend:</a:t>
            </a:r>
            <a:endParaRPr lang="en-US" sz="2800" b="1" dirty="0">
              <a:ea typeface="Calibri"/>
              <a:cs typeface="Calibri"/>
            </a:endParaRPr>
          </a:p>
          <a:p>
            <a:pPr>
              <a:buFont typeface="Arial"/>
              <a:buChar char="•"/>
            </a:pPr>
            <a:r>
              <a:rPr lang="en-US" sz="2800" dirty="0">
                <a:ea typeface="+mn-lt"/>
                <a:cs typeface="+mn-lt"/>
              </a:rPr>
              <a:t>React.js</a:t>
            </a:r>
            <a:endParaRPr lang="en-US" dirty="0">
              <a:ea typeface="Calibri"/>
              <a:cs typeface="Calibri"/>
            </a:endParaRPr>
          </a:p>
          <a:p>
            <a:pPr>
              <a:buFont typeface="Arial"/>
              <a:buChar char="•"/>
            </a:pPr>
            <a:r>
              <a:rPr lang="en-US" sz="2800" dirty="0">
                <a:ea typeface="+mn-lt"/>
                <a:cs typeface="+mn-lt"/>
              </a:rPr>
              <a:t>TypeScript</a:t>
            </a:r>
          </a:p>
          <a:p>
            <a:pPr>
              <a:buFont typeface="Arial"/>
              <a:buChar char="•"/>
            </a:pPr>
            <a:r>
              <a:rPr lang="en-US" sz="2800" dirty="0" err="1">
                <a:ea typeface="+mn-lt"/>
                <a:cs typeface="+mn-lt"/>
              </a:rPr>
              <a:t>Css</a:t>
            </a:r>
            <a:r>
              <a:rPr lang="en-US" sz="2800" dirty="0">
                <a:ea typeface="+mn-lt"/>
                <a:cs typeface="+mn-lt"/>
              </a:rPr>
              <a:t> , HTML , JavaScript</a:t>
            </a:r>
            <a:endParaRPr lang="en-US" sz="2800" dirty="0">
              <a:ea typeface="Calibri"/>
              <a:cs typeface="Calibri"/>
            </a:endParaRPr>
          </a:p>
          <a:p>
            <a:pPr>
              <a:buFont typeface="Arial"/>
              <a:buChar char="•"/>
            </a:pPr>
            <a:r>
              <a:rPr lang="en-US" sz="2800" b="1" dirty="0">
                <a:ea typeface="+mn-lt"/>
                <a:cs typeface="+mn-lt"/>
              </a:rPr>
              <a:t>Backend</a:t>
            </a:r>
            <a:r>
              <a:rPr lang="en-US" sz="2800" dirty="0">
                <a:ea typeface="+mn-lt"/>
                <a:cs typeface="+mn-lt"/>
              </a:rPr>
              <a:t>:</a:t>
            </a:r>
            <a:endParaRPr lang="en-US" sz="2800" dirty="0">
              <a:ea typeface="Calibri"/>
              <a:cs typeface="Calibri"/>
            </a:endParaRPr>
          </a:p>
          <a:p>
            <a:pPr>
              <a:buFont typeface="Arial"/>
              <a:buChar char="•"/>
            </a:pPr>
            <a:r>
              <a:rPr lang="en-US" sz="2800" dirty="0">
                <a:ea typeface="+mn-lt"/>
                <a:cs typeface="+mn-lt"/>
              </a:rPr>
              <a:t>Node.js</a:t>
            </a:r>
            <a:endParaRPr lang="en-US" sz="2800" dirty="0">
              <a:ea typeface="Calibri"/>
              <a:cs typeface="Calibri"/>
            </a:endParaRPr>
          </a:p>
          <a:p>
            <a:pPr>
              <a:buFont typeface="Arial"/>
              <a:buChar char="•"/>
            </a:pPr>
            <a:r>
              <a:rPr lang="en-US" sz="2800" dirty="0">
                <a:ea typeface="+mn-lt"/>
                <a:cs typeface="+mn-lt"/>
              </a:rPr>
              <a:t>Authentication and Session Management</a:t>
            </a:r>
            <a:endParaRPr lang="en-US" sz="2800" dirty="0">
              <a:ea typeface="Calibri"/>
              <a:cs typeface="Calibri"/>
            </a:endParaRPr>
          </a:p>
          <a:p>
            <a:pPr>
              <a:buFont typeface="Arial"/>
              <a:buChar char="•"/>
            </a:pPr>
            <a:r>
              <a:rPr lang="en-US" sz="2800" b="1" dirty="0">
                <a:ea typeface="+mn-lt"/>
                <a:cs typeface="+mn-lt"/>
              </a:rPr>
              <a:t>Database</a:t>
            </a:r>
            <a:r>
              <a:rPr lang="en-US" sz="2800" dirty="0">
                <a:ea typeface="+mn-lt"/>
                <a:cs typeface="+mn-lt"/>
              </a:rPr>
              <a:t>:</a:t>
            </a:r>
            <a:endParaRPr lang="en-US" sz="2800" dirty="0">
              <a:ea typeface="Calibri"/>
              <a:cs typeface="Calibri"/>
            </a:endParaRPr>
          </a:p>
          <a:p>
            <a:pPr>
              <a:buFont typeface="Arial"/>
              <a:buChar char="•"/>
            </a:pPr>
            <a:r>
              <a:rPr lang="en-US" sz="2800" dirty="0">
                <a:ea typeface="+mn-lt"/>
                <a:cs typeface="+mn-lt"/>
              </a:rPr>
              <a:t>MySQL / PostgreSQL (Relational Database)</a:t>
            </a:r>
            <a:endParaRPr lang="en-US" sz="2800" dirty="0">
              <a:ea typeface="Calibri"/>
              <a:cs typeface="Calibri"/>
            </a:endParaRPr>
          </a:p>
          <a:p>
            <a:pPr>
              <a:buFont typeface="Arial"/>
              <a:buChar char="•"/>
            </a:pPr>
            <a:r>
              <a:rPr lang="en-US" sz="2800" b="1" dirty="0">
                <a:ea typeface="+mn-lt"/>
                <a:cs typeface="+mn-lt"/>
              </a:rPr>
              <a:t>Tools</a:t>
            </a:r>
            <a:r>
              <a:rPr lang="en-US" sz="2800" dirty="0">
                <a:ea typeface="+mn-lt"/>
                <a:cs typeface="+mn-lt"/>
              </a:rPr>
              <a:t>:</a:t>
            </a:r>
            <a:endParaRPr lang="en-US" sz="2800" dirty="0">
              <a:ea typeface="Calibri"/>
              <a:cs typeface="Calibri"/>
            </a:endParaRPr>
          </a:p>
          <a:p>
            <a:pPr>
              <a:buFont typeface="Arial"/>
              <a:buChar char="•"/>
            </a:pPr>
            <a:r>
              <a:rPr lang="en-US" sz="2800" dirty="0">
                <a:ea typeface="+mn-lt"/>
                <a:cs typeface="+mn-lt"/>
              </a:rPr>
              <a:t>Visual Studio Code </a:t>
            </a:r>
            <a:endParaRPr lang="en-US" sz="2800" dirty="0">
              <a:ea typeface="Calibri"/>
              <a:cs typeface="Calibri"/>
            </a:endParaRPr>
          </a:p>
          <a:p>
            <a:pPr>
              <a:buFont typeface="Arial"/>
              <a:buChar char="•"/>
            </a:pPr>
            <a:r>
              <a:rPr lang="en-US" sz="2800" dirty="0">
                <a:ea typeface="+mn-lt"/>
                <a:cs typeface="+mn-lt"/>
              </a:rPr>
              <a:t>Git / GitHub (version control)</a:t>
            </a:r>
            <a:endParaRPr lang="en-US" sz="2800" dirty="0">
              <a:ea typeface="Calibri"/>
              <a:cs typeface="Calibri"/>
            </a:endParaRPr>
          </a:p>
          <a:p>
            <a:pPr>
              <a:buFont typeface="Arial"/>
              <a:buChar char="•"/>
            </a:pPr>
            <a:r>
              <a:rPr lang="en-US" sz="2800" b="1" dirty="0">
                <a:ea typeface="+mn-lt"/>
                <a:cs typeface="+mn-lt"/>
              </a:rPr>
              <a:t>Hardware/Software Requirements:</a:t>
            </a:r>
            <a:endParaRPr lang="en-US" sz="2800" b="1" dirty="0">
              <a:ea typeface="Calibri"/>
              <a:cs typeface="Calibri"/>
            </a:endParaRPr>
          </a:p>
          <a:p>
            <a:r>
              <a:rPr lang="en-US" sz="2800" b="1" dirty="0">
                <a:ea typeface="+mn-lt"/>
                <a:cs typeface="+mn-lt"/>
              </a:rPr>
              <a:t> Hardware</a:t>
            </a:r>
            <a:r>
              <a:rPr lang="en-US" sz="2800" dirty="0">
                <a:ea typeface="+mn-lt"/>
                <a:cs typeface="+mn-lt"/>
              </a:rPr>
              <a:t>: PC/Laptop with at least 4GB RAM, 500GB storage</a:t>
            </a:r>
          </a:p>
          <a:p>
            <a:r>
              <a:rPr lang="en-US" sz="2800" dirty="0">
                <a:ea typeface="Calibri"/>
                <a:cs typeface="Calibri"/>
              </a:rPr>
              <a:t> </a:t>
            </a:r>
            <a:r>
              <a:rPr lang="en-US" sz="2800" b="1" dirty="0">
                <a:ea typeface="+mn-lt"/>
                <a:cs typeface="+mn-lt"/>
              </a:rPr>
              <a:t>Software</a:t>
            </a:r>
            <a:r>
              <a:rPr lang="en-US" sz="2800" dirty="0">
                <a:ea typeface="+mn-lt"/>
                <a:cs typeface="+mn-lt"/>
              </a:rPr>
              <a:t>: Web browser, MySQL/PostgreSQL server, Python/PHP runtime environment, Internet connection for updates and job alerts.</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1870048" y="1485900"/>
            <a:ext cx="15229623" cy="11726287"/>
          </a:xfrm>
          <a:prstGeom prst="rect">
            <a:avLst/>
          </a:prstGeom>
          <a:noFill/>
        </p:spPr>
        <p:txBody>
          <a:bodyPr wrap="square" lIns="91440" tIns="45720" rIns="91440" bIns="45720" rtlCol="0" anchor="t">
            <a:spAutoFit/>
          </a:bodyPr>
          <a:lstStyle/>
          <a:p>
            <a:endParaRPr lang="en-IN" sz="2800" b="1" dirty="0"/>
          </a:p>
          <a:p>
            <a:r>
              <a:rPr lang="en-IN" sz="2800" b="1" dirty="0">
                <a:ea typeface="+mn-lt"/>
                <a:cs typeface="+mn-lt"/>
              </a:rPr>
              <a:t>Module 1</a:t>
            </a:r>
            <a:r>
              <a:rPr lang="en-IN" sz="2800" dirty="0">
                <a:ea typeface="+mn-lt"/>
                <a:cs typeface="+mn-lt"/>
              </a:rPr>
              <a:t>: User Management</a:t>
            </a:r>
            <a:endParaRPr lang="en-IN" sz="2800" dirty="0">
              <a:ea typeface="Calibri"/>
              <a:cs typeface="Calibri"/>
            </a:endParaRPr>
          </a:p>
          <a:p>
            <a:r>
              <a:rPr lang="en-US" sz="2800" dirty="0"/>
              <a:t>Handles user registration, login, and profile management for all users. It supports role-based access control for Job Seekers, Employers, and Admin, ensuring secure authentication and proper access to system features.</a:t>
            </a:r>
          </a:p>
          <a:p>
            <a:r>
              <a:rPr lang="en-IN" sz="2800" b="1" dirty="0">
                <a:ea typeface="+mn-lt"/>
                <a:cs typeface="+mn-lt"/>
              </a:rPr>
              <a:t>Module 2</a:t>
            </a:r>
            <a:r>
              <a:rPr lang="en-IN" sz="2800" dirty="0">
                <a:ea typeface="+mn-lt"/>
                <a:cs typeface="+mn-lt"/>
              </a:rPr>
              <a:t>: Job Management</a:t>
            </a:r>
            <a:endParaRPr lang="en-IN" sz="2800" dirty="0">
              <a:ea typeface="Calibri"/>
              <a:cs typeface="Calibri"/>
            </a:endParaRPr>
          </a:p>
          <a:p>
            <a:r>
              <a:rPr lang="en-US" sz="2800" dirty="0"/>
              <a:t>Allows employers to create, update, and delete job postings. It manages job details such as job title, description, required skills, location, and number of vacancies.</a:t>
            </a:r>
          </a:p>
          <a:p>
            <a:r>
              <a:rPr lang="en-IN" sz="2800" b="1" dirty="0">
                <a:ea typeface="+mn-lt"/>
                <a:cs typeface="+mn-lt"/>
              </a:rPr>
              <a:t>Module 3</a:t>
            </a:r>
            <a:r>
              <a:rPr lang="en-IN" sz="2800" dirty="0">
                <a:ea typeface="+mn-lt"/>
                <a:cs typeface="+mn-lt"/>
              </a:rPr>
              <a:t>: Candidate Management</a:t>
            </a:r>
            <a:endParaRPr lang="en-IN" sz="2800" dirty="0">
              <a:ea typeface="Calibri"/>
              <a:cs typeface="Calibri"/>
            </a:endParaRPr>
          </a:p>
          <a:p>
            <a:r>
              <a:rPr lang="en-US" sz="2800" dirty="0"/>
              <a:t>Enables job seekers to create profiles, upload resumes, search for jobs, and apply for suitable positions. It also tracks the application history of each candidate.</a:t>
            </a:r>
          </a:p>
          <a:p>
            <a:r>
              <a:rPr lang="en-IN" sz="2800" b="1" dirty="0">
                <a:ea typeface="+mn-lt"/>
                <a:cs typeface="+mn-lt"/>
              </a:rPr>
              <a:t>Module 4</a:t>
            </a:r>
            <a:r>
              <a:rPr lang="en-IN" sz="2800" dirty="0">
                <a:ea typeface="+mn-lt"/>
                <a:cs typeface="+mn-lt"/>
              </a:rPr>
              <a:t>: Recruitment Management</a:t>
            </a:r>
            <a:endParaRPr lang="en-IN" sz="2800" dirty="0">
              <a:ea typeface="Calibri"/>
              <a:cs typeface="Calibri"/>
            </a:endParaRPr>
          </a:p>
          <a:p>
            <a:r>
              <a:rPr lang="en-US" sz="2800" dirty="0"/>
              <a:t>Helps employers manage the hiring process by viewing applications, shortlisting candidates, scheduling interviews, and updating recruitment status.</a:t>
            </a:r>
          </a:p>
          <a:p>
            <a:r>
              <a:rPr lang="en-US" sz="2800" b="1" dirty="0"/>
              <a:t>Module 5: Communication Management</a:t>
            </a:r>
          </a:p>
          <a:p>
            <a:r>
              <a:rPr lang="en-US" sz="2800" dirty="0"/>
              <a:t>Includes email notifications and real-time chat functionality. It allows interaction between job seekers and employers, sending updates like interview calls, application status, and messages.</a:t>
            </a:r>
          </a:p>
          <a:p>
            <a:r>
              <a:rPr lang="en-IN" sz="2800" b="1" dirty="0">
                <a:ea typeface="+mn-lt"/>
                <a:cs typeface="+mn-lt"/>
              </a:rPr>
              <a:t>Module 6</a:t>
            </a:r>
            <a:r>
              <a:rPr lang="en-IN" sz="2800" dirty="0">
                <a:ea typeface="+mn-lt"/>
                <a:cs typeface="+mn-lt"/>
              </a:rPr>
              <a:t>: </a:t>
            </a:r>
            <a:r>
              <a:rPr lang="en-IN" sz="2800" b="1" dirty="0">
                <a:ea typeface="+mn-lt"/>
                <a:cs typeface="+mn-lt"/>
              </a:rPr>
              <a:t>Database Management</a:t>
            </a:r>
            <a:endParaRPr lang="en-IN" sz="2800" b="1" dirty="0">
              <a:ea typeface="Calibri"/>
              <a:cs typeface="Calibri"/>
            </a:endParaRPr>
          </a:p>
          <a:p>
            <a:r>
              <a:rPr lang="en-US" sz="2800" dirty="0"/>
              <a:t>Stores and manages all system data including user profiles, job postings, resumes, applications, and messages in a secure and structured database.</a:t>
            </a:r>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FA3974F-1954-EB3D-ADE5-D3421969B988}"/>
              </a:ext>
            </a:extLst>
          </p:cNvPr>
          <p:cNvPicPr>
            <a:picLocks noChangeAspect="1"/>
          </p:cNvPicPr>
          <p:nvPr/>
        </p:nvPicPr>
        <p:blipFill>
          <a:blip r:embed="rId3"/>
          <a:stretch>
            <a:fillRect/>
          </a:stretch>
        </p:blipFill>
        <p:spPr>
          <a:xfrm>
            <a:off x="4267199" y="2015465"/>
            <a:ext cx="9829801" cy="6238203"/>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792842C-56F1-5F6F-C1DB-288FA4BBEB73}"/>
              </a:ext>
            </a:extLst>
          </p:cNvPr>
          <p:cNvPicPr>
            <a:picLocks noChangeAspect="1"/>
          </p:cNvPicPr>
          <p:nvPr/>
        </p:nvPicPr>
        <p:blipFill>
          <a:blip r:embed="rId3"/>
          <a:stretch>
            <a:fillRect/>
          </a:stretch>
        </p:blipFill>
        <p:spPr>
          <a:xfrm>
            <a:off x="1821094" y="1471100"/>
            <a:ext cx="4960706" cy="7344800"/>
          </a:xfrm>
          <a:prstGeom prst="rect">
            <a:avLst/>
          </a:prstGeom>
        </p:spPr>
      </p:pic>
      <p:pic>
        <p:nvPicPr>
          <p:cNvPr id="6" name="Picture 5">
            <a:extLst>
              <a:ext uri="{FF2B5EF4-FFF2-40B4-BE49-F238E27FC236}">
                <a16:creationId xmlns:a16="http://schemas.microsoft.com/office/drawing/2014/main" id="{0DB0EAED-E8A8-9FAA-2ECF-C00D29C572B7}"/>
              </a:ext>
            </a:extLst>
          </p:cNvPr>
          <p:cNvPicPr>
            <a:picLocks noChangeAspect="1"/>
          </p:cNvPicPr>
          <p:nvPr/>
        </p:nvPicPr>
        <p:blipFill>
          <a:blip r:embed="rId4"/>
          <a:stretch>
            <a:fillRect/>
          </a:stretch>
        </p:blipFill>
        <p:spPr>
          <a:xfrm>
            <a:off x="7239000" y="1982349"/>
            <a:ext cx="5638800" cy="6590152"/>
          </a:xfrm>
          <a:prstGeom prst="rect">
            <a:avLst/>
          </a:prstGeom>
        </p:spPr>
      </p:pic>
      <p:pic>
        <p:nvPicPr>
          <p:cNvPr id="39" name="Picture 38">
            <a:extLst>
              <a:ext uri="{FF2B5EF4-FFF2-40B4-BE49-F238E27FC236}">
                <a16:creationId xmlns:a16="http://schemas.microsoft.com/office/drawing/2014/main" id="{4F9729E7-87D6-EBFD-2ED6-0B4ACF61870A}"/>
              </a:ext>
            </a:extLst>
          </p:cNvPr>
          <p:cNvPicPr>
            <a:picLocks noChangeAspect="1"/>
          </p:cNvPicPr>
          <p:nvPr/>
        </p:nvPicPr>
        <p:blipFill>
          <a:blip r:embed="rId5"/>
          <a:stretch>
            <a:fillRect/>
          </a:stretch>
        </p:blipFill>
        <p:spPr>
          <a:xfrm>
            <a:off x="13066595" y="1982348"/>
            <a:ext cx="4688006" cy="6437751"/>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4F1FDA9-74C6-1C50-B917-C99224D29C72}"/>
              </a:ext>
            </a:extLst>
          </p:cNvPr>
          <p:cNvSpPr txBox="1"/>
          <p:nvPr/>
        </p:nvSpPr>
        <p:spPr>
          <a:xfrm>
            <a:off x="1957260" y="1409541"/>
            <a:ext cx="15035840" cy="90794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mn-lt"/>
                <a:cs typeface="+mn-lt"/>
              </a:rPr>
              <a:t>Advantages</a:t>
            </a:r>
            <a:endParaRPr lang="en-US" sz="2400" b="1" dirty="0">
              <a:ea typeface="Calibri"/>
              <a:cs typeface="Calibri"/>
            </a:endParaRPr>
          </a:p>
          <a:p>
            <a:endParaRPr lang="en-US" sz="2400" dirty="0">
              <a:ea typeface="Calibri"/>
              <a:cs typeface="Calibri"/>
            </a:endParaRPr>
          </a:p>
          <a:p>
            <a:r>
              <a:rPr lang="en-US" sz="2800" dirty="0"/>
              <a:t>Provides easy access to job opportunities anytime and anywhere.</a:t>
            </a:r>
          </a:p>
          <a:p>
            <a:endParaRPr lang="en-US" sz="2800" dirty="0">
              <a:ea typeface="Calibri"/>
              <a:cs typeface="Calibri"/>
            </a:endParaRPr>
          </a:p>
          <a:p>
            <a:r>
              <a:rPr lang="en-US" sz="2800" dirty="0"/>
              <a:t>Reduces time and cost in the recruitment process.</a:t>
            </a:r>
            <a:endParaRPr lang="en-US" sz="2800" dirty="0">
              <a:ea typeface="Calibri"/>
              <a:cs typeface="Calibri"/>
            </a:endParaRPr>
          </a:p>
          <a:p>
            <a:endParaRPr lang="en-US" sz="2800" dirty="0">
              <a:ea typeface="Calibri"/>
              <a:cs typeface="Calibri"/>
            </a:endParaRPr>
          </a:p>
          <a:p>
            <a:r>
              <a:rPr lang="en-US" sz="2800" dirty="0"/>
              <a:t>Allows quick job search using filters such as location, salary, and skills.</a:t>
            </a:r>
          </a:p>
          <a:p>
            <a:endParaRPr lang="en-US" sz="2800" dirty="0">
              <a:ea typeface="Calibri"/>
              <a:cs typeface="Calibri"/>
            </a:endParaRPr>
          </a:p>
          <a:p>
            <a:r>
              <a:rPr lang="en-US" sz="2800" dirty="0"/>
              <a:t>Improves communication through notifications and alerts.</a:t>
            </a:r>
          </a:p>
          <a:p>
            <a:endParaRPr lang="en-US" sz="2800" dirty="0">
              <a:ea typeface="Calibri"/>
              <a:cs typeface="Calibri"/>
            </a:endParaRPr>
          </a:p>
          <a:p>
            <a:endParaRPr lang="en-US" sz="2800" dirty="0">
              <a:ea typeface="Calibri"/>
              <a:cs typeface="Calibri"/>
            </a:endParaRPr>
          </a:p>
          <a:p>
            <a:r>
              <a:rPr lang="en-US" sz="2800" b="1" dirty="0">
                <a:ea typeface="+mn-lt"/>
                <a:cs typeface="+mn-lt"/>
              </a:rPr>
              <a:t>Limitations</a:t>
            </a:r>
            <a:endParaRPr lang="en-US" sz="2400" b="1" dirty="0">
              <a:ea typeface="Calibri"/>
              <a:cs typeface="Calibri"/>
            </a:endParaRPr>
          </a:p>
          <a:p>
            <a:endParaRPr lang="en-US" sz="2800" dirty="0">
              <a:ea typeface="Calibri"/>
              <a:cs typeface="Calibri"/>
            </a:endParaRPr>
          </a:p>
          <a:p>
            <a:r>
              <a:rPr lang="en-US" sz="2800" dirty="0"/>
              <a:t>Requires internet connection for access and updates.</a:t>
            </a:r>
          </a:p>
          <a:p>
            <a:endParaRPr lang="en-US" sz="2800" dirty="0">
              <a:ea typeface="Calibri"/>
              <a:cs typeface="Calibri"/>
            </a:endParaRPr>
          </a:p>
          <a:p>
            <a:r>
              <a:rPr lang="en-US" sz="2800" dirty="0"/>
              <a:t>Fake job postings or fraudulent users may occur if not monitored properly.</a:t>
            </a:r>
          </a:p>
          <a:p>
            <a:endParaRPr lang="en-US" sz="2800" dirty="0">
              <a:ea typeface="Calibri"/>
              <a:cs typeface="Calibri"/>
            </a:endParaRPr>
          </a:p>
          <a:p>
            <a:r>
              <a:rPr lang="en-US" sz="2800" dirty="0"/>
              <a:t>Limited opportunities if employers do not actively post jobs.</a:t>
            </a:r>
          </a:p>
          <a:p>
            <a:endParaRPr lang="en-US" sz="2800" dirty="0">
              <a:ea typeface="Calibri"/>
              <a:cs typeface="Calibri"/>
            </a:endParaRPr>
          </a:p>
          <a:p>
            <a:r>
              <a:rPr lang="en-US" sz="2800" dirty="0"/>
              <a:t>Data privacy and security risks if protection is weak.</a:t>
            </a:r>
          </a:p>
          <a:p>
            <a:endParaRPr lang="en-US" sz="2800" dirty="0"/>
          </a:p>
        </p:txBody>
      </p:sp>
      <p:sp>
        <p:nvSpPr>
          <p:cNvPr id="4" name="Oval 3">
            <a:extLst>
              <a:ext uri="{FF2B5EF4-FFF2-40B4-BE49-F238E27FC236}">
                <a16:creationId xmlns:a16="http://schemas.microsoft.com/office/drawing/2014/main" id="{CF343FB3-EF65-54EB-22C9-E969B39193DD}"/>
              </a:ext>
            </a:extLst>
          </p:cNvPr>
          <p:cNvSpPr/>
          <p:nvPr/>
        </p:nvSpPr>
        <p:spPr>
          <a:xfrm>
            <a:off x="1852076" y="2398971"/>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17B4623-FC01-DC7F-4917-F02F536C164C}"/>
              </a:ext>
            </a:extLst>
          </p:cNvPr>
          <p:cNvSpPr/>
          <p:nvPr/>
        </p:nvSpPr>
        <p:spPr>
          <a:xfrm>
            <a:off x="1852076" y="3244914"/>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1E7D5375-6326-310D-23A0-7EA7F046B947}"/>
              </a:ext>
            </a:extLst>
          </p:cNvPr>
          <p:cNvSpPr/>
          <p:nvPr/>
        </p:nvSpPr>
        <p:spPr>
          <a:xfrm>
            <a:off x="1852076" y="4090857"/>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990BED3A-D4AB-5D2E-DF0F-D39581E472C1}"/>
              </a:ext>
            </a:extLst>
          </p:cNvPr>
          <p:cNvSpPr/>
          <p:nvPr/>
        </p:nvSpPr>
        <p:spPr>
          <a:xfrm flipH="1" flipV="1">
            <a:off x="1837163" y="4936800"/>
            <a:ext cx="45719" cy="76201"/>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C60AC92E-EAD7-8D2D-70F6-15E0C6253BBB}"/>
              </a:ext>
            </a:extLst>
          </p:cNvPr>
          <p:cNvSpPr/>
          <p:nvPr/>
        </p:nvSpPr>
        <p:spPr>
          <a:xfrm>
            <a:off x="1881060" y="7070516"/>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D9EC3A1-E2DD-BCD0-2315-59AE2AC40D9F}"/>
              </a:ext>
            </a:extLst>
          </p:cNvPr>
          <p:cNvSpPr/>
          <p:nvPr/>
        </p:nvSpPr>
        <p:spPr>
          <a:xfrm>
            <a:off x="1881060" y="7888029"/>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7F5ACB6E-C8A5-5CB8-F0C6-A81549124473}"/>
              </a:ext>
            </a:extLst>
          </p:cNvPr>
          <p:cNvSpPr/>
          <p:nvPr/>
        </p:nvSpPr>
        <p:spPr>
          <a:xfrm>
            <a:off x="1852076" y="8724302"/>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F1FF61F1-CFD9-7A9D-0AAD-2A3E7890455C}"/>
              </a:ext>
            </a:extLst>
          </p:cNvPr>
          <p:cNvSpPr/>
          <p:nvPr/>
        </p:nvSpPr>
        <p:spPr>
          <a:xfrm>
            <a:off x="1852076" y="9584134"/>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8976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599</TotalTime>
  <Words>1179</Words>
  <Application>Microsoft Office PowerPoint</Application>
  <PresentationFormat>Custom</PresentationFormat>
  <Paragraphs>268</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Gotham</vt:lpstr>
      <vt:lpstr>Cambria</vt:lpstr>
      <vt:lpstr>Gotham Bold Italics</vt:lpstr>
      <vt:lpstr>Arial</vt:lpstr>
      <vt:lpstr>Times New Roman</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vandana kunchapu</dc:creator>
  <cp:lastModifiedBy>vandana kunchapu</cp:lastModifiedBy>
  <cp:revision>87</cp:revision>
  <dcterms:created xsi:type="dcterms:W3CDTF">2006-08-16T00:00:00Z</dcterms:created>
  <dcterms:modified xsi:type="dcterms:W3CDTF">2026-05-06T04:46:31Z</dcterms:modified>
  <dc:identifier>DAHCaYqJ9OU</dc:identifier>
</cp:coreProperties>
</file>